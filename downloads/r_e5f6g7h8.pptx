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B2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0" y="0"/>
            <a:ext cx="4876495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640080"/>
            <a:ext cx="1463040" cy="146304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424160" y="5394960"/>
            <a:ext cx="1097280" cy="109728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5212080"/>
            <a:ext cx="914400" cy="914400"/>
          </a:xfrm>
          <a:prstGeom prst="ellipse">
            <a:avLst/>
          </a:prstGeom>
          <a:solidFill>
            <a:srgbClr val="C4B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C4B5FD"/>
                </a:solidFill>
                <a:latin typeface="微软雅黑"/>
                <a:rFonts eastAsia="微软雅黑" ascii="微软雅黑" hAnsi="微软雅黑"/>
              </a:rPr>
              <a:t>企业级智能体平台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  <a:latin typeface="微软雅黑"/>
                <a:rFonts eastAsia="微软雅黑" ascii="微软雅黑" hAnsi="微软雅黑"/>
              </a:rPr>
              <a:t>MaxKB 教学实战课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38912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C4B5FD"/>
                </a:solidFill>
                <a:latin typeface="微软雅黑"/>
                <a:rFonts eastAsia="微软雅黑" ascii="微软雅黑" hAnsi="微软雅黑"/>
              </a:rPr>
              <a:t>开源 · 易用 · 强落地 · 面向 FDE 培训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607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微软雅黑"/>
                <a:rFonts eastAsia="微软雅黑" ascii="微软雅黑" hAnsi="微软雅黑"/>
              </a:rPr>
              <a:t>授课：小陶老师  ·  广州华商学院  ·  2026 年暑期 FDE 培训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2194560" cy="25603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  <a:rFonts eastAsia="微软雅黑" ascii="微软雅黑" hAnsi="微软雅黑"/>
              </a:rPr>
              <a:t>PART 0 · 开场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5B2EBF"/>
                </a:solidFill>
                <a:latin typeface="微软雅黑"/>
                <a:rFonts eastAsia="微软雅黑" ascii="微软雅黑" hAnsi="微软雅黑"/>
              </a:rPr>
              <a:t>系列课定位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MaxKB 在 FDE 培训体系中的位置与价值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743200"/>
            <a:ext cx="3657600" cy="32004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743200"/>
            <a:ext cx="73152" cy="32004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880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8B5CF6"/>
                </a:solidFill>
                <a:latin typeface="微软雅黑"/>
                <a:rFonts eastAsia="微软雅黑" ascii="微软雅黑" hAnsi="微软雅黑"/>
              </a:rPr>
              <a:t>🔰 基础层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29184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RAG / LangChain / 向量化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584448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Docker 部署入门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877056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简单应用快速搭建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169664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适配：所有学员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2743200"/>
            <a:ext cx="3657600" cy="32004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2743200"/>
            <a:ext cx="73152" cy="32004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2880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  <a:latin typeface="微软雅黑"/>
                <a:rFonts eastAsia="微软雅黑" ascii="微软雅黑" hAnsi="微软雅黑"/>
              </a:rPr>
              <a:t>⚙️ 进阶层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29184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Workflow 可视化编排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584448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MCP 工具调用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877056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企业系统集成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4169664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适配：学生 + 同行教师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2743200"/>
            <a:ext cx="3657600" cy="32004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0" y="2743200"/>
            <a:ext cx="73152" cy="32004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58200" y="2880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34D399"/>
                </a:solidFill>
                <a:latin typeface="微软雅黑"/>
                <a:rFonts eastAsia="微软雅黑" ascii="微软雅黑" hAnsi="微软雅黑"/>
              </a:rPr>
              <a:t>🚀 实战层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329184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真实业务场景落地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3584448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师生双视角交付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3877056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ROI 与可复制路径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4169664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适配：FDE 工程师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企业级智能体平台 · MaxKB 教学课件  ·  小陶老师  · 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2 / 68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2194560" cy="25603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  <a:rFonts eastAsia="微软雅黑" ascii="微软雅黑" hAnsi="微软雅黑"/>
              </a:rPr>
              <a:t>PART 0 · 开场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5B2EBF"/>
                </a:solidFill>
                <a:latin typeface="微软雅黑"/>
                <a:rFonts eastAsia="微软雅黑" ascii="微软雅黑" hAnsi="微软雅黑"/>
              </a:rPr>
              <a:t>课程目标 · 三栖产出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2194560"/>
            <a:ext cx="1097280" cy="109728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200" b="1" i="0">
                <a:solidFill>
                  <a:srgbClr val="FFFFFF"/>
                </a:solidFill>
                <a:latin typeface="微软雅黑"/>
                <a:rFonts eastAsia="微软雅黑" ascii="微软雅黑" hAnsi="微软雅黑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219456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8B5CF6"/>
                </a:solidFill>
                <a:latin typeface="微软雅黑"/>
                <a:rFonts eastAsia="微软雅黑" ascii="微软雅黑" hAnsi="微软雅黑"/>
              </a:rPr>
              <a:t>懂原理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269748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深入理解 RAG、LangChain、Workflow、MCP 四大核心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566160"/>
            <a:ext cx="1097280" cy="10972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200" b="1" i="0">
                <a:solidFill>
                  <a:srgbClr val="FFFFFF"/>
                </a:solidFill>
                <a:latin typeface="微软雅黑"/>
                <a:rFonts eastAsia="微软雅黑" ascii="微软雅黑" hAnsi="微软雅黑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356616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3B82F6"/>
                </a:solidFill>
                <a:latin typeface="微软雅黑"/>
                <a:rFonts eastAsia="微软雅黑" ascii="微软雅黑" hAnsi="微软雅黑"/>
              </a:rPr>
              <a:t>能落地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406908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通过 6 步实操完成部署、调试、发布全流程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4937760"/>
            <a:ext cx="1097280" cy="109728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200" b="1" i="0">
                <a:solidFill>
                  <a:srgbClr val="FFFFFF"/>
                </a:solidFill>
                <a:latin typeface="微软雅黑"/>
                <a:rFonts eastAsia="微软雅黑" ascii="微软雅黑" hAnsi="微软雅黑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493776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34D399"/>
                </a:solidFill>
                <a:latin typeface="微软雅黑"/>
                <a:rFonts eastAsia="微软雅黑" ascii="微软雅黑" hAnsi="微软雅黑"/>
              </a:rPr>
              <a:t>会变现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544068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掌握 5 大企业场景方法论，可独立交付项目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企业级智能体平台 · MaxKB 教学课件  ·  小陶老师  · 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3 / 68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2194560" cy="25603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  <a:rFonts eastAsia="微软雅黑" ascii="微软雅黑" hAnsi="微软雅黑"/>
              </a:rPr>
              <a:t>PART 0 · 开场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5B2EBF"/>
                </a:solidFill>
                <a:latin typeface="微软雅黑"/>
                <a:rFonts eastAsia="微软雅黑" ascii="微软雅黑" hAnsi="微软雅黑"/>
              </a:rPr>
              <a:t>受众定位 · 谁该学这门课？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8B5CF6"/>
                </a:solidFill>
                <a:latin typeface="微软雅黑"/>
                <a:rFonts eastAsia="微软雅黑" ascii="微软雅黑" hAnsi="微软雅黑"/>
              </a:rPr>
              <a:t>🎯 三类受众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560320"/>
            <a:ext cx="5486400" cy="13716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560320"/>
            <a:ext cx="73152" cy="13716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69748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8B5CF6"/>
                </a:solidFill>
                <a:latin typeface="微软雅黑"/>
                <a:rFonts eastAsia="微软雅黑" ascii="微软雅黑" hAnsi="微软雅黑"/>
              </a:rPr>
              <a:t>学生群体（30%）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10896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本科 / 研究生，专业不限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40156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想 1 周内搭出可演示项目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694176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毕设 / 比赛 / 实习加分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023360"/>
            <a:ext cx="5486400" cy="13716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4023360"/>
            <a:ext cx="73152" cy="13716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16052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  <a:latin typeface="微软雅黑"/>
                <a:rFonts eastAsia="微软雅黑" ascii="微软雅黑" hAnsi="微软雅黑"/>
              </a:rPr>
              <a:t>同行教师（40%）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5720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想把 AI 落地到自己的课程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86460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搭建院系级智能问答系统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157216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想出版新型态教学资源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486400"/>
            <a:ext cx="5486400" cy="9144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5486400"/>
            <a:ext cx="73152" cy="9144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562356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34D399"/>
                </a:solidFill>
                <a:latin typeface="微软雅黑"/>
                <a:rFonts eastAsia="微软雅黑" ascii="微软雅黑" hAnsi="微软雅黑"/>
              </a:rPr>
              <a:t>企业项目实战（30%）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03504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能交付客服 / 知识库 / 文献助手等场景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01168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3B82F6"/>
                </a:solidFill>
                <a:latin typeface="微软雅黑"/>
                <a:rFonts eastAsia="微软雅黑" ascii="微软雅黑" hAnsi="微软雅黑"/>
              </a:rPr>
              <a:t>📚 前置知识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2560320"/>
            <a:ext cx="5486400" cy="13716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0" y="2560320"/>
            <a:ext cx="73152" cy="13716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29400" y="269748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  <a:latin typeface="微软雅黑"/>
                <a:rFonts eastAsia="微软雅黑" ascii="微软雅黑" hAnsi="微软雅黑"/>
              </a:rPr>
              <a:t>必备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310896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Python 基础语法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340156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Docker 基本使用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3694176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API 调用经验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4023360"/>
            <a:ext cx="5486400" cy="13716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0" y="4023360"/>
            <a:ext cx="73152" cy="13716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29400" y="416052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8B5CF6"/>
                </a:solidFill>
                <a:latin typeface="微软雅黑"/>
                <a:rFonts eastAsia="微软雅黑" ascii="微软雅黑" hAnsi="微软雅黑"/>
              </a:rPr>
              <a:t>加分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45720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LangChain 使用经验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9400" y="486460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Vue.js / 前端开发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9400" y="5157216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PostgreSQL / 向量数据库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0" y="5486400"/>
            <a:ext cx="5486400" cy="9144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00800" y="5486400"/>
            <a:ext cx="73152" cy="9144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29400" y="562356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34D399"/>
                </a:solidFill>
                <a:latin typeface="微软雅黑"/>
                <a:rFonts eastAsia="微软雅黑" ascii="微软雅黑" hAnsi="微软雅黑"/>
              </a:rPr>
              <a:t>产出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603504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可演示应用 + ZIP 交付包 + 实战项目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企业级智能体平台 · MaxKB 教学课件  ·  小陶老师  ·  2026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4 / 68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2194560" cy="25603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  <a:rFonts eastAsia="微软雅黑" ascii="微软雅黑" hAnsi="微软雅黑"/>
              </a:rPr>
              <a:t>PART 0 · 开场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5B2EBF"/>
                </a:solidFill>
                <a:latin typeface="微软雅黑"/>
                <a:rFonts eastAsia="微软雅黑" ascii="微软雅黑" hAnsi="微软雅黑"/>
              </a:rPr>
              <a:t>课前引导 · 3 件事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371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200" b="0" i="0">
                <a:solidFill>
                  <a:srgbClr val="8B5CF6"/>
                </a:solidFill>
                <a:latin typeface="微软雅黑"/>
                <a:rFonts eastAsia="微软雅黑" ascii="微软雅黑" hAnsi="微软雅黑"/>
              </a:rPr>
              <a:t>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228600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8B5CF6"/>
                </a:solidFill>
                <a:latin typeface="微软雅黑"/>
                <a:rFonts eastAsia="微软雅黑" ascii="微软雅黑" hAnsi="微软雅黑"/>
              </a:rPr>
              <a:t>下载资源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292608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扫码加入课程群，领取 MaxKB 安装包、PPT、源码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66160"/>
            <a:ext cx="1371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200" b="0" i="0">
                <a:solidFill>
                  <a:srgbClr val="3B82F6"/>
                </a:solidFill>
                <a:latin typeface="微软雅黑"/>
                <a:rFonts eastAsia="微软雅黑" ascii="微软雅黑" hAnsi="微软雅黑"/>
              </a:rPr>
              <a:t>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356616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3B82F6"/>
                </a:solidFill>
                <a:latin typeface="微软雅黑"/>
                <a:rFonts eastAsia="微软雅黑" ascii="微软雅黑" hAnsi="微软雅黑"/>
              </a:rPr>
              <a:t>准备环境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42062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本地准备 Docker + 4G 内存 + Ubuntu/macOS/Win11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46320"/>
            <a:ext cx="1371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200" b="0" i="0">
                <a:solidFill>
                  <a:srgbClr val="34D399"/>
                </a:solidFill>
                <a:latin typeface="微软雅黑"/>
                <a:rFonts eastAsia="微软雅黑" ascii="微软雅黑" hAnsi="微软雅黑"/>
              </a:rPr>
              <a:t>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484632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34D399"/>
                </a:solidFill>
                <a:latin typeface="微软雅黑"/>
                <a:rFonts eastAsia="微软雅黑" ascii="微软雅黑" hAnsi="微软雅黑"/>
              </a:rPr>
              <a:t>带着问题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548640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思考：你身边有哪些场景可以用 RAG 改造？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企业级智能体平台 · MaxKB 教学课件  ·  小陶老师  · 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5 / 68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5B2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0"/>
            <a:ext cx="3657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微软雅黑"/>
                <a:rFonts eastAsia="微软雅黑" ascii="微软雅黑" hAnsi="微软雅黑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47472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C4B5FD"/>
                </a:solidFill>
                <a:latin typeface="微软雅黑"/>
                <a:rFonts eastAsia="微软雅黑" ascii="微软雅黑" hAnsi="微软雅黑"/>
              </a:rPr>
              <a:t>从 0 到 1 理解 MaxKB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0"/>
            <a:ext cx="80768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2286000"/>
            <a:ext cx="7315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5B2EBF"/>
                </a:solidFill>
                <a:latin typeface="微软雅黑"/>
                <a:rFonts eastAsia="微软雅黑" ascii="微软雅黑" hAnsi="微软雅黑"/>
              </a:rPr>
              <a:t>PART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926080"/>
            <a:ext cx="7315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理论基座 · 从 0 到 1 理解 MaxKB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3840480"/>
            <a:ext cx="73152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本部分用 5 个章节讲清楚：</a:t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· MaxKB 是什么</a:t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· RAG / 向量化 / LangChain 原理</a:t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· Workflow / MCP / Agent 范式</a:t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· Django + Vue + pgvector 技术栈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3657600"/>
            <a:ext cx="914400" cy="457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企业级智能体平台 · MaxKB 教学课件  ·  小陶老师  · 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6 / 68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2194560" cy="25603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  <a:rFonts eastAsia="微软雅黑" ascii="微软雅黑" hAnsi="微软雅黑"/>
              </a:rPr>
              <a:t>PART 1 · 理论基座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5B2EBF"/>
                </a:solidFill>
                <a:latin typeface="微软雅黑"/>
                <a:rFonts eastAsia="微软雅黑" ascii="微软雅黑" hAnsi="微软雅黑"/>
              </a:rPr>
              <a:t>1.1 MaxKB 是什么？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5486400" cy="41148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5029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0" b="1" i="0">
                <a:solidFill>
                  <a:srgbClr val="5B2EBF"/>
                </a:solidFill>
                <a:latin typeface="微软雅黑"/>
                <a:rFonts eastAsia="微软雅黑" ascii="微软雅黑" hAnsi="微软雅黑"/>
              </a:rPr>
              <a:t>MaxKB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9184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E40AF"/>
                </a:solidFill>
                <a:latin typeface="微软雅黑"/>
                <a:rFonts eastAsia="微软雅黑" ascii="微软雅黑" hAnsi="微软雅黑"/>
              </a:rPr>
              <a:t>= Max Knowledge Brain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23360"/>
            <a:ext cx="50292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一款强大易用的开源企业级智能体平台，
致力于解决企业 AI 落地的
「高门槛 · 高成本 · 长周期」三大难题。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66928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8B5CF6"/>
                </a:solidFill>
                <a:latin typeface="微软雅黑"/>
                <a:rFonts eastAsia="微软雅黑" ascii="微软雅黑" hAnsi="微软雅黑"/>
              </a:rPr>
              <a:t>⭐ GitHub · 开源 · GPL v3 · Docker 一键启动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8B5CF6"/>
                </a:solidFill>
                <a:latin typeface="微软雅黑"/>
                <a:rFonts eastAsia="微软雅黑" ascii="微软雅黑" hAnsi="微软雅黑"/>
              </a:rPr>
              <a:t>📊 核心数据（2026 年）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743200"/>
            <a:ext cx="2560320" cy="1371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2743200"/>
            <a:ext cx="2560320" cy="1371600"/>
          </a:xfrm>
          <a:prstGeom prst="rect">
            <a:avLst/>
          </a:prstGeom>
          <a:noFill/>
          <a:ln w="19050">
            <a:solidFill>
              <a:srgbClr val="C4B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926080"/>
            <a:ext cx="2560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00" b="1" i="0">
                <a:solidFill>
                  <a:srgbClr val="5B2EBF"/>
                </a:solidFill>
                <a:latin typeface="微软雅黑"/>
                <a:rFonts eastAsia="微软雅黑" ascii="微软雅黑" hAnsi="微软雅黑"/>
              </a:rPr>
              <a:t>10K+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61188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GitHub Stars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2743200"/>
            <a:ext cx="2560320" cy="1371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00" y="2743200"/>
            <a:ext cx="2560320" cy="1371600"/>
          </a:xfrm>
          <a:prstGeom prst="rect">
            <a:avLst/>
          </a:prstGeom>
          <a:noFill/>
          <a:ln w="19050">
            <a:solidFill>
              <a:srgbClr val="C4B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2926080"/>
            <a:ext cx="2560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00" b="1" i="0">
                <a:solidFill>
                  <a:srgbClr val="5B2EBF"/>
                </a:solidFill>
                <a:latin typeface="微软雅黑"/>
                <a:rFonts eastAsia="微软雅黑" ascii="微软雅黑" hAnsi="微软雅黑"/>
              </a:rPr>
              <a:t>100+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361188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生产用例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4297680"/>
            <a:ext cx="2560320" cy="1371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4297680"/>
            <a:ext cx="2560320" cy="1371600"/>
          </a:xfrm>
          <a:prstGeom prst="rect">
            <a:avLst/>
          </a:prstGeom>
          <a:noFill/>
          <a:ln w="19050">
            <a:solidFill>
              <a:srgbClr val="C4B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4480560"/>
            <a:ext cx="2560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00" b="1" i="0">
                <a:solidFill>
                  <a:srgbClr val="5B2EBF"/>
                </a:solidFill>
                <a:latin typeface="微软雅黑"/>
                <a:rFonts eastAsia="微软雅黑" ascii="微软雅黑" hAnsi="微软雅黑"/>
              </a:rPr>
              <a:t>20+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16636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LLM 模型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0" y="4297680"/>
            <a:ext cx="2560320" cy="1371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00" y="4297680"/>
            <a:ext cx="2560320" cy="1371600"/>
          </a:xfrm>
          <a:prstGeom prst="rect">
            <a:avLst/>
          </a:prstGeom>
          <a:noFill/>
          <a:ln w="19050">
            <a:solidFill>
              <a:srgbClr val="C4B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0" y="4480560"/>
            <a:ext cx="2560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00" b="1" i="0">
                <a:solidFill>
                  <a:srgbClr val="5B2EBF"/>
                </a:solidFill>
                <a:latin typeface="微软雅黑"/>
                <a:rFonts eastAsia="微软雅黑" ascii="微软雅黑" hAnsi="微软雅黑"/>
              </a:rPr>
              <a:t>v2.0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516636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当前版本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企业级智能体平台 · MaxKB 教学课件  ·  小陶老师  · 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7 / 68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2194560" cy="25603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  <a:rFonts eastAsia="微软雅黑" ascii="微软雅黑" hAnsi="微软雅黑"/>
              </a:rPr>
              <a:t>PART 1 · 理论基座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5B2EBF"/>
                </a:solidFill>
                <a:latin typeface="微软雅黑"/>
                <a:rFonts eastAsia="微软雅黑" ascii="微软雅黑" hAnsi="微软雅黑"/>
              </a:rPr>
              <a:t>1.2 MaxKB 核心架构</a:t>
            </a:r>
          </a:p>
        </p:txBody>
      </p:sp>
      <p:pic>
        <p:nvPicPr>
          <p:cNvPr id="5" name="Picture 4" descr="04_三层架构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0"/>
            <a:ext cx="7315200" cy="5142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0" y="182880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8B5CF6"/>
                </a:solidFill>
                <a:latin typeface="微软雅黑"/>
                <a:rFonts eastAsia="微软雅黑" ascii="微软雅黑" hAnsi="微软雅黑"/>
              </a:rPr>
              <a:t>📌 三大层级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0" y="2468880"/>
            <a:ext cx="91440" cy="64008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0" y="24688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8B5CF6"/>
                </a:solidFill>
                <a:latin typeface="微软雅黑"/>
                <a:rFonts eastAsia="微软雅黑" ascii="微软雅黑" hAnsi="微软雅黑"/>
              </a:rPr>
              <a:t>应用层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78892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Vue.js · Web 控制台、嵌入组件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3291840"/>
            <a:ext cx="91440" cy="64008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32918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  <a:latin typeface="微软雅黑"/>
                <a:rFonts eastAsia="微软雅黑" ascii="微软雅黑" hAnsi="微软雅黑"/>
              </a:rPr>
              <a:t>服务层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361188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Django + LangChain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4114800"/>
            <a:ext cx="91440" cy="64008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41148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0AF"/>
                </a:solidFill>
                <a:latin typeface="微软雅黑"/>
                <a:rFonts eastAsia="微软雅黑" ascii="微软雅黑" hAnsi="微软雅黑"/>
              </a:rPr>
              <a:t>基础层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443484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PostgreSQL + pgvector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1">
                <a:solidFill>
                  <a:srgbClr val="5B2EBF"/>
                </a:solidFill>
                <a:latin typeface="微软雅黑"/>
                <a:rFonts eastAsia="微软雅黑" ascii="微软雅黑" hAnsi="微软雅黑"/>
              </a:rPr>
              <a:t>⚡ 三层解耦是 MaxKB 可扩展性的核心：UI 层可换 · 服务层可扩展 · 基础层可替换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企业级智能体平台 · MaxKB 教学课件  ·  小陶老师  · 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8 / 68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2194560" cy="25603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  <a:rFonts eastAsia="微软雅黑" ascii="微软雅黑" hAnsi="微软雅黑"/>
              </a:rPr>
              <a:t>PART 1 · 理论基座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5B2EBF"/>
                </a:solidFill>
                <a:latin typeface="微软雅黑"/>
                <a:rFonts eastAsia="微软雅黑" ascii="微软雅黑" hAnsi="微软雅黑"/>
              </a:rPr>
              <a:t>1.3 MaxKB 五维核心能力</a:t>
            </a:r>
          </a:p>
        </p:txBody>
      </p:sp>
      <p:pic>
        <p:nvPicPr>
          <p:cNvPr id="5" name="Picture 4" descr="01_五维能力雷达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0"/>
            <a:ext cx="4513717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0" y="182880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8B5CF6"/>
                </a:solidFill>
                <a:latin typeface="微软雅黑"/>
                <a:rFonts eastAsia="微软雅黑" ascii="微软雅黑" hAnsi="微软雅黑"/>
              </a:rPr>
              <a:t>📊 五大能力维度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246888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5B2EBF"/>
                </a:solidFill>
                <a:latin typeface="微软雅黑"/>
                <a:rFonts eastAsia="微软雅黑" ascii="微软雅黑" hAnsi="微软雅黑"/>
              </a:rPr>
              <a:t>RAG 检索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246888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CD34D"/>
                </a:solidFill>
                <a:latin typeface="微软雅黑"/>
                <a:rFonts eastAsia="微软雅黑" ascii="微软雅黑" hAnsi="微软雅黑"/>
              </a:rPr>
              <a:t>⭐⭐⭐⭐⭐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283464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文档 → 向量化 → 召回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32004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5B2EBF"/>
                </a:solidFill>
                <a:latin typeface="微软雅黑"/>
                <a:rFonts eastAsia="微软雅黑" ascii="微软雅黑" hAnsi="微软雅黑"/>
              </a:rPr>
              <a:t>工作流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320040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CD34D"/>
                </a:solidFill>
                <a:latin typeface="微软雅黑"/>
                <a:rFonts eastAsia="微软雅黑" ascii="微软雅黑" hAnsi="微软雅黑"/>
              </a:rPr>
              <a:t>⭐⭐⭐⭐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356616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可视化拖拽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39319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5B2EBF"/>
                </a:solidFill>
                <a:latin typeface="微软雅黑"/>
                <a:rFonts eastAsia="微软雅黑" ascii="微软雅黑" hAnsi="微软雅黑"/>
              </a:rPr>
              <a:t>MCP 工具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393192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CD34D"/>
                </a:solidFill>
                <a:latin typeface="微软雅黑"/>
                <a:rFonts eastAsia="微软雅黑" ascii="微软雅黑" hAnsi="微软雅黑"/>
              </a:rPr>
              <a:t>⭐⭐⭐⭐⭐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4297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标准化协议接入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466344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5B2EBF"/>
                </a:solidFill>
                <a:latin typeface="微软雅黑"/>
                <a:rFonts eastAsia="微软雅黑" ascii="微软雅黑" hAnsi="微软雅黑"/>
              </a:rPr>
              <a:t>模型中立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466344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CD34D"/>
                </a:solidFill>
                <a:latin typeface="微软雅黑"/>
                <a:rFonts eastAsia="微软雅黑" ascii="微软雅黑" hAnsi="微软雅黑"/>
              </a:rPr>
              <a:t>⭐⭐⭐⭐⭐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50292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20+ LLM 切换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539496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5B2EBF"/>
                </a:solidFill>
                <a:latin typeface="微软雅黑"/>
                <a:rFonts eastAsia="微软雅黑" ascii="微软雅黑" hAnsi="微软雅黑"/>
              </a:rPr>
              <a:t>多模态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539496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CD34D"/>
                </a:solidFill>
                <a:latin typeface="微软雅黑"/>
                <a:rFonts eastAsia="微软雅黑" ascii="微软雅黑" hAnsi="微软雅黑"/>
              </a:rPr>
              <a:t>⭐⭐⭐⭐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576072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文/图/音/视频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企业级智能体平台 · MaxKB 教学课件  ·  小陶老师  · 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9 / 68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2194560" cy="25603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  <a:rFonts eastAsia="微软雅黑" ascii="微软雅黑" hAnsi="微软雅黑"/>
              </a:rPr>
              <a:t>PART 1 · 理论基座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5B2EBF"/>
                </a:solidFill>
                <a:latin typeface="微软雅黑"/>
                <a:rFonts eastAsia="微软雅黑" ascii="微软雅黑" hAnsi="微软雅黑"/>
              </a:rPr>
              <a:t>1.4 RAG · 检索增强生成原理</a:t>
            </a:r>
          </a:p>
        </p:txBody>
      </p:sp>
      <p:pic>
        <p:nvPicPr>
          <p:cNvPr id="5" name="Picture 4" descr="02_RAG原理流程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0"/>
            <a:ext cx="11612880" cy="539050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5486400"/>
            <a:ext cx="11247120" cy="914400"/>
          </a:xfrm>
          <a:prstGeom prst="rect">
            <a:avLst/>
          </a:prstGeom>
          <a:solidFill>
            <a:srgbClr val="C4B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557784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5B2EBF"/>
                </a:solidFill>
                <a:latin typeface="微软雅黑"/>
                <a:rFonts eastAsia="微软雅黑" ascii="微软雅黑" hAnsi="微软雅黑"/>
              </a:rPr>
              <a:t>💡 核心要点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8978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RAG 让 LLM「带着事实作答」，幻觉率下降 70%+，准确率提升 60%+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企业级智能体平台 · MaxKB 教学课件  ·  小陶老师  · 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10 / 68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2194560" cy="25603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  <a:rFonts eastAsia="微软雅黑" ascii="微软雅黑" hAnsi="微软雅黑"/>
              </a:rPr>
              <a:t>PART 1 · 理论基座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5B2EBF"/>
                </a:solidFill>
                <a:latin typeface="微软雅黑"/>
                <a:rFonts eastAsia="微软雅黑" ascii="微软雅黑" hAnsi="微软雅黑"/>
              </a:rPr>
              <a:t>1.5 RAG vs 传统 LLM 问答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5486400" cy="41148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❌ 传统 LLM 问答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914400" cy="4572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❌ 知识截止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6616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❌ 凭空捏造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02336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❌ 私域知识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48056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❌ 来源不明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011680"/>
            <a:ext cx="5486400" cy="4114800"/>
          </a:xfrm>
          <a:prstGeom prst="rect">
            <a:avLst/>
          </a:prstGeom>
          <a:solidFill>
            <a:srgbClr val="C4B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194560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5B2EBF"/>
                </a:solidFill>
                <a:latin typeface="微软雅黑"/>
                <a:rFonts eastAsia="微软雅黑" ascii="微软雅黑" hAnsi="微软雅黑"/>
              </a:rPr>
              <a:t>✅ RAG 增强问答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2788920"/>
            <a:ext cx="914400" cy="45720"/>
          </a:xfrm>
          <a:prstGeom prst="rect">
            <a:avLst/>
          </a:prstGeom>
          <a:solidFill>
            <a:srgbClr val="5B2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310896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✅ 知识实时更新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56616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✅ 引用文档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02336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✅ 加载私域文档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48056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✅ 引用溯源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企业级智能体平台 · MaxKB 教学课件  ·  小陶老师  · 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11 / 68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2194560" cy="25603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  <a:rFonts eastAsia="微软雅黑" ascii="微软雅黑" hAnsi="微软雅黑"/>
              </a:rPr>
              <a:t>PART 1 · 理论基座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5B2EBF"/>
                </a:solidFill>
                <a:latin typeface="微软雅黑"/>
                <a:rFonts eastAsia="微软雅黑" ascii="微软雅黑" hAnsi="微软雅黑"/>
              </a:rPr>
              <a:t>1.6 RAG 核心代码演示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11247120" cy="41148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11247120" cy="25603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048256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微软雅黑"/>
                <a:rFonts eastAsia="微软雅黑" ascii="微软雅黑" hAnsi="微软雅黑"/>
              </a:rPr>
              <a:t>▶ 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31720"/>
            <a:ext cx="10972800" cy="370332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Fira Code"/>
                <a:rFonts eastAsia="Fira Code" ascii="Fira Code" hAnsi="Fira Code"/>
              </a:rPr>
              <a:t>  1  </a:t>
            </a:r>
            <a:r>
              <a:rPr sz="1000" b="0" i="0">
                <a:solidFill>
                  <a:srgbClr val="374151"/>
                </a:solidFill>
                <a:latin typeface="Fira Code"/>
                <a:rFonts eastAsia="Fira Code" ascii="Fira Code" hAnsi="Fira Code"/>
              </a:rPr>
              <a:t>def rag_qa(query: str, knowledge_base, llm) -&gt; str:</a:t>
            </a:r>
          </a:p>
          <a:p>
            <a:pPr algn="l"/>
            <a:r>
              <a:rPr sz="900" b="0" i="0">
                <a:solidFill>
                  <a:srgbClr val="6B7280"/>
                </a:solidFill>
                <a:latin typeface="Fira Code"/>
                <a:rFonts eastAsia="Fira Code" ascii="Fira Code" hAnsi="Fira Code"/>
              </a:rPr>
              <a:t>  2  </a:t>
            </a:r>
            <a:r>
              <a:rPr sz="1000" b="0" i="0">
                <a:solidFill>
                  <a:srgbClr val="374151"/>
                </a:solidFill>
                <a:latin typeface="Fira Code"/>
                <a:rFonts eastAsia="Fira Code" ascii="Fira Code" hAnsi="Fira Code"/>
              </a:rPr>
              <a:t>    """RAG 核心 4 步：召回 → 组装 → 生成"""</a:t>
            </a:r>
          </a:p>
          <a:p>
            <a:pPr algn="l"/>
            <a:r>
              <a:rPr sz="900" b="0" i="0">
                <a:solidFill>
                  <a:srgbClr val="6B7280"/>
                </a:solidFill>
                <a:latin typeface="Fira Code"/>
                <a:rFonts eastAsia="Fira Code" ascii="Fira Code" hAnsi="Fira Code"/>
              </a:rPr>
              <a:t>  3  </a:t>
            </a:r>
            <a:r>
              <a:rPr sz="1000" b="0" i="0">
                <a:solidFill>
                  <a:srgbClr val="374151"/>
                </a:solidFill>
                <a:latin typeface="Fira Code"/>
                <a:rFonts eastAsia="Fira Code" ascii="Fira Code" hAnsi="Fira Code"/>
              </a:rPr>
              <a:t>    # Step 1: 检索 Top-K 相关文档片段</a:t>
            </a:r>
          </a:p>
          <a:p>
            <a:pPr algn="l"/>
            <a:r>
              <a:rPr sz="900" b="0" i="0">
                <a:solidFill>
                  <a:srgbClr val="6B7280"/>
                </a:solidFill>
                <a:latin typeface="Fira Code"/>
                <a:rFonts eastAsia="Fira Code" ascii="Fira Code" hAnsi="Fira Code"/>
              </a:rPr>
              <a:t>  4  </a:t>
            </a:r>
            <a:r>
              <a:rPr sz="1000" b="0" i="0">
                <a:solidFill>
                  <a:srgbClr val="374151"/>
                </a:solidFill>
                <a:latin typeface="Fira Code"/>
                <a:rFonts eastAsia="Fira Code" ascii="Fira Code" hAnsi="Fira Code"/>
              </a:rPr>
              <a:t>    chunks = vector_search(query, knowledge_base, top_k=5)</a:t>
            </a:r>
          </a:p>
          <a:p>
            <a:pPr algn="l"/>
            <a:r>
              <a:rPr sz="900" b="0" i="0">
                <a:solidFill>
                  <a:srgbClr val="6B7280"/>
                </a:solidFill>
                <a:latin typeface="Fira Code"/>
                <a:rFonts eastAsia="Fira Code" ascii="Fira Code" hAnsi="Fira Code"/>
              </a:rPr>
              <a:t>  5  </a:t>
            </a:r>
            <a:r>
              <a:rPr sz="1000" b="0" i="0">
                <a:solidFill>
                  <a:srgbClr val="374151"/>
                </a:solidFill>
                <a:latin typeface="Fira Code"/>
                <a:rFonts eastAsia="Fira Code" ascii="Fira Code" hAnsi="Fira Code"/>
              </a:rPr>
              <a:t>    # Step 2: 重排（Rerank）</a:t>
            </a:r>
          </a:p>
          <a:p>
            <a:pPr algn="l"/>
            <a:r>
              <a:rPr sz="900" b="0" i="0">
                <a:solidFill>
                  <a:srgbClr val="6B7280"/>
                </a:solidFill>
                <a:latin typeface="Fira Code"/>
                <a:rFonts eastAsia="Fira Code" ascii="Fira Code" hAnsi="Fira Code"/>
              </a:rPr>
              <a:t>  6  </a:t>
            </a:r>
            <a:r>
              <a:rPr sz="1000" b="0" i="0">
                <a:solidFill>
                  <a:srgbClr val="374151"/>
                </a:solidFill>
                <a:latin typeface="Fira Code"/>
                <a:rFonts eastAsia="Fira Code" ascii="Fira Code" hAnsi="Fira Code"/>
              </a:rPr>
              <a:t>    reranked = reranker(query, chunks)</a:t>
            </a:r>
          </a:p>
          <a:p>
            <a:pPr algn="l"/>
            <a:r>
              <a:rPr sz="900" b="0" i="0">
                <a:solidFill>
                  <a:srgbClr val="6B7280"/>
                </a:solidFill>
                <a:latin typeface="Fira Code"/>
                <a:rFonts eastAsia="Fira Code" ascii="Fira Code" hAnsi="Fira Code"/>
              </a:rPr>
              <a:t>  7  </a:t>
            </a:r>
            <a:r>
              <a:rPr sz="1000" b="0" i="0">
                <a:solidFill>
                  <a:srgbClr val="374151"/>
                </a:solidFill>
                <a:latin typeface="Fira Code"/>
                <a:rFonts eastAsia="Fira Code" ascii="Fira Code" hAnsi="Fira Code"/>
              </a:rPr>
              <a:t>    # Step 3: 拼接 Prompt</a:t>
            </a:r>
          </a:p>
          <a:p>
            <a:pPr algn="l"/>
            <a:r>
              <a:rPr sz="900" b="0" i="0">
                <a:solidFill>
                  <a:srgbClr val="6B7280"/>
                </a:solidFill>
                <a:latin typeface="Fira Code"/>
                <a:rFonts eastAsia="Fira Code" ascii="Fira Code" hAnsi="Fira Code"/>
              </a:rPr>
              <a:t>  8  </a:t>
            </a:r>
            <a:r>
              <a:rPr sz="1000" b="0" i="0">
                <a:solidFill>
                  <a:srgbClr val="374151"/>
                </a:solidFill>
                <a:latin typeface="Fira Code"/>
                <a:rFonts eastAsia="Fira Code" ascii="Fira Code" hAnsi="Fira Code"/>
              </a:rPr>
              <a:t>    context = "\n---\n".join([c.text for c in reranked])</a:t>
            </a:r>
          </a:p>
          <a:p>
            <a:pPr algn="l"/>
            <a:r>
              <a:rPr sz="900" b="0" i="0">
                <a:solidFill>
                  <a:srgbClr val="6B7280"/>
                </a:solidFill>
                <a:latin typeface="Fira Code"/>
                <a:rFonts eastAsia="Fira Code" ascii="Fira Code" hAnsi="Fira Code"/>
              </a:rPr>
              <a:t>  9  </a:t>
            </a:r>
            <a:r>
              <a:rPr sz="1000" b="0" i="0">
                <a:solidFill>
                  <a:srgbClr val="374151"/>
                </a:solidFill>
                <a:latin typeface="Fira Code"/>
                <a:rFonts eastAsia="Fira Code" ascii="Fira Code" hAnsi="Fira Code"/>
              </a:rPr>
              <a:t>    prompt = f"""基于以下上下文回答问题：</a:t>
            </a:r>
          </a:p>
          <a:p>
            <a:pPr algn="l"/>
            <a:r>
              <a:rPr sz="900" b="0" i="0">
                <a:solidFill>
                  <a:srgbClr val="6B7280"/>
                </a:solidFill>
                <a:latin typeface="Fira Code"/>
                <a:rFonts eastAsia="Fira Code" ascii="Fira Code" hAnsi="Fira Code"/>
              </a:rPr>
              <a:t> 10  </a:t>
            </a:r>
            <a:r>
              <a:rPr sz="1000" b="0" i="0">
                <a:solidFill>
                  <a:srgbClr val="374151"/>
                </a:solidFill>
                <a:latin typeface="Fira Code"/>
                <a:rFonts eastAsia="Fira Code" ascii="Fira Code" hAnsi="Fira Code"/>
              </a:rPr>
              <a:t>{context}</a:t>
            </a:r>
          </a:p>
          <a:p>
            <a:pPr algn="l"/>
            <a:r>
              <a:rPr sz="900" b="0" i="0">
                <a:solidFill>
                  <a:srgbClr val="6B7280"/>
                </a:solidFill>
                <a:latin typeface="Fira Code"/>
                <a:rFonts eastAsia="Fira Code" ascii="Fira Code" hAnsi="Fira Code"/>
              </a:rPr>
              <a:t> 11  </a:t>
            </a:r>
            <a:r>
              <a:rPr sz="1000" b="0" i="0">
                <a:solidFill>
                  <a:srgbClr val="374151"/>
                </a:solidFill>
                <a:latin typeface="Fira Code"/>
                <a:rFonts eastAsia="Fira Code" ascii="Fira Code" hAnsi="Fira Code"/>
              </a:rPr>
              <a:t>问题：{query}</a:t>
            </a:r>
          </a:p>
          <a:p>
            <a:pPr algn="l"/>
            <a:r>
              <a:rPr sz="900" b="0" i="0">
                <a:solidFill>
                  <a:srgbClr val="6B7280"/>
                </a:solidFill>
                <a:latin typeface="Fira Code"/>
                <a:rFonts eastAsia="Fira Code" ascii="Fira Code" hAnsi="Fira Code"/>
              </a:rPr>
              <a:t> 12  </a:t>
            </a:r>
            <a:r>
              <a:rPr sz="1000" b="0" i="0">
                <a:solidFill>
                  <a:srgbClr val="374151"/>
                </a:solidFill>
                <a:latin typeface="Fira Code"/>
                <a:rFonts eastAsia="Fira Code" ascii="Fira Code" hAnsi="Fira Code"/>
              </a:rPr>
              <a:t>回答："""</a:t>
            </a:r>
          </a:p>
          <a:p>
            <a:pPr algn="l"/>
            <a:r>
              <a:rPr sz="900" b="0" i="0">
                <a:solidFill>
                  <a:srgbClr val="6B7280"/>
                </a:solidFill>
                <a:latin typeface="Fira Code"/>
                <a:rFonts eastAsia="Fira Code" ascii="Fira Code" hAnsi="Fira Code"/>
              </a:rPr>
              <a:t> 13  </a:t>
            </a:r>
            <a:r>
              <a:rPr sz="1000" b="0" i="0">
                <a:solidFill>
                  <a:srgbClr val="374151"/>
                </a:solidFill>
                <a:latin typeface="Fira Code"/>
                <a:rFonts eastAsia="Fira Code" ascii="Fira Code" hAnsi="Fira Code"/>
              </a:rPr>
              <a:t>    # Step 4: LLM 生成</a:t>
            </a:r>
          </a:p>
          <a:p>
            <a:pPr algn="l"/>
            <a:r>
              <a:rPr sz="900" b="0" i="0">
                <a:solidFill>
                  <a:srgbClr val="6B7280"/>
                </a:solidFill>
                <a:latin typeface="Fira Code"/>
                <a:rFonts eastAsia="Fira Code" ascii="Fira Code" hAnsi="Fira Code"/>
              </a:rPr>
              <a:t> 14  </a:t>
            </a:r>
            <a:r>
              <a:rPr sz="1000" b="0" i="0">
                <a:solidFill>
                  <a:srgbClr val="374151"/>
                </a:solidFill>
                <a:latin typeface="Fira Code"/>
                <a:rFonts eastAsia="Fira Code" ascii="Fira Code" hAnsi="Fira Code"/>
              </a:rPr>
              <a:t>    return llm.invoke(prompt)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1">
                <a:solidFill>
                  <a:srgbClr val="8B5CF6"/>
                </a:solidFill>
                <a:latin typeface="微软雅黑"/>
                <a:rFonts eastAsia="微软雅黑" ascii="微软雅黑" hAnsi="微软雅黑"/>
              </a:rPr>
              <a:t>💡 MaxKB 内部实现比这个更复杂（含权限控制 / 多路召回 / 流式输出）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企业级智能体平台 · MaxKB 教学课件  ·  小陶老师  · 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12 / 68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2194560" cy="25603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  <a:rFonts eastAsia="微软雅黑" ascii="微软雅黑" hAnsi="微软雅黑"/>
              </a:rPr>
              <a:t>PART 1 · 理论基座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5B2EBF"/>
                </a:solidFill>
                <a:latin typeface="微软雅黑"/>
                <a:rFonts eastAsia="微软雅黑" ascii="微软雅黑" hAnsi="微软雅黑"/>
              </a:rPr>
              <a:t>1.7 向量化与 pgvector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8B5CF6"/>
                </a:solidFill>
                <a:latin typeface="微软雅黑"/>
                <a:rFonts eastAsia="微软雅黑" ascii="微软雅黑" hAnsi="微软雅黑"/>
              </a:rPr>
              <a:t>🔮 什么是向量化？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560320"/>
            <a:ext cx="5486400" cy="32004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560320"/>
            <a:ext cx="73152" cy="32004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69748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8B5CF6"/>
                </a:solidFill>
                <a:latin typeface="微软雅黑"/>
                <a:rFonts eastAsia="微软雅黑" ascii="微软雅黑" hAnsi="微软雅黑"/>
              </a:rPr>
              <a:t>语义 → 数字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10896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文本映射到 N 维向量空间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40156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语义相近 → 距离近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694176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"苹果手机"与"iPhone"距离近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986784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与"红富士苹果"距离远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852160"/>
            <a:ext cx="5486400" cy="54864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5852160"/>
            <a:ext cx="73152" cy="54864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598932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  <a:latin typeface="微软雅黑"/>
                <a:rFonts eastAsia="微软雅黑" ascii="微软雅黑" hAnsi="微软雅黑"/>
              </a:rPr>
              <a:t>常用模型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4008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bge-large-zh · text-embedding-ada-002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01168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3B82F6"/>
                </a:solidFill>
                <a:latin typeface="微软雅黑"/>
                <a:rFonts eastAsia="微软雅黑" ascii="微软雅黑" hAnsi="微软雅黑"/>
              </a:rPr>
              <a:t>🗄️ 为什么用 pgvector？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2560320"/>
            <a:ext cx="5486400" cy="32004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2560320"/>
            <a:ext cx="73152" cy="32004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269748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0AF"/>
                </a:solidFill>
                <a:latin typeface="微软雅黑"/>
                <a:rFonts eastAsia="微软雅黑" ascii="微软雅黑" hAnsi="微软雅黑"/>
              </a:rPr>
              <a:t>PostgreSQL 扩展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310896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原生支持向量存储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340156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1024-3072 维向量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3694176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IVFFlat / HNSW 索引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3986784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事务一致 · 备份简单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594360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1">
                <a:solidFill>
                  <a:srgbClr val="8B5CF6"/>
                </a:solidFill>
                <a:latin typeface="微软雅黑"/>
                <a:rFonts eastAsia="微软雅黑" ascii="微软雅黑" hAnsi="微软雅黑"/>
              </a:rPr>
              <a:t>⚡ MaxKB 默认 PostgreSQL + pgvector，无需额外向量数据库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企业级智能体平台 · MaxKB 教学课件  ·  小陶老师  · 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13 / 68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2194560" cy="25603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  <a:rFonts eastAsia="微软雅黑" ascii="微软雅黑" hAnsi="微软雅黑"/>
              </a:rPr>
              <a:t>PART 1 · 理论基座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5B2EBF"/>
                </a:solidFill>
                <a:latin typeface="微软雅黑"/>
                <a:rFonts eastAsia="微软雅黑" ascii="微软雅黑" hAnsi="微软雅黑"/>
              </a:rPr>
              <a:t>1.8 嵌入与检索代码示例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11247120" cy="41148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11247120" cy="25603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048256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微软雅黑"/>
                <a:rFonts eastAsia="微软雅黑" ascii="微软雅黑" hAnsi="微软雅黑"/>
              </a:rPr>
              <a:t>▶ 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31720"/>
            <a:ext cx="10972800" cy="370332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Fira Code"/>
                <a:rFonts eastAsia="Fira Code" ascii="Fira Code" hAnsi="Fira Code"/>
              </a:rPr>
              <a:t>  1  </a:t>
            </a:r>
            <a:r>
              <a:rPr sz="1000" b="0" i="0">
                <a:solidFill>
                  <a:srgbClr val="374151"/>
                </a:solidFill>
                <a:latin typeface="Fira Code"/>
                <a:rFonts eastAsia="Fira Code" ascii="Fira Code" hAnsi="Fira Code"/>
              </a:rPr>
              <a:t>from langchain.vectorstores import PGVector</a:t>
            </a:r>
          </a:p>
          <a:p>
            <a:pPr algn="l"/>
            <a:r>
              <a:rPr sz="900" b="0" i="0">
                <a:solidFill>
                  <a:srgbClr val="6B7280"/>
                </a:solidFill>
                <a:latin typeface="Fira Code"/>
                <a:rFonts eastAsia="Fira Code" ascii="Fira Code" hAnsi="Fira Code"/>
              </a:rPr>
              <a:t>  2  </a:t>
            </a:r>
            <a:r>
              <a:rPr sz="1000" b="0" i="0">
                <a:solidFill>
                  <a:srgbClr val="374151"/>
                </a:solidFill>
                <a:latin typeface="Fira Code"/>
                <a:rFonts eastAsia="Fira Code" ascii="Fira Code" hAnsi="Fira Code"/>
              </a:rPr>
              <a:t>from langchain.embeddings import OpenAIEmbeddings</a:t>
            </a:r>
          </a:p>
          <a:p>
            <a:pPr algn="l"/>
            <a:r>
              <a:rPr sz="900" b="0" i="0">
                <a:solidFill>
                  <a:srgbClr val="6B7280"/>
                </a:solidFill>
                <a:latin typeface="Fira Code"/>
                <a:rFonts eastAsia="Fira Code" ascii="Fira Code" hAnsi="Fira Code"/>
              </a:rPr>
              <a:t>  3  </a:t>
            </a:r>
            <a:r>
              <a:rPr sz="1000" b="0" i="0">
                <a:solidFill>
                  <a:srgbClr val="374151"/>
                </a:solidFill>
                <a:latin typeface="Fira Code"/>
                <a:rFonts eastAsia="Fira Code" ascii="Fira Code" hAnsi="Fira Code"/>
              </a:rPr>
              <a:t/>
            </a:r>
          </a:p>
          <a:p>
            <a:pPr algn="l"/>
            <a:r>
              <a:rPr sz="900" b="0" i="0">
                <a:solidFill>
                  <a:srgbClr val="6B7280"/>
                </a:solidFill>
                <a:latin typeface="Fira Code"/>
                <a:rFonts eastAsia="Fira Code" ascii="Fira Code" hAnsi="Fira Code"/>
              </a:rPr>
              <a:t>  4  </a:t>
            </a:r>
            <a:r>
              <a:rPr sz="1000" b="0" i="0">
                <a:solidFill>
                  <a:srgbClr val="374151"/>
                </a:solidFill>
                <a:latin typeface="Fira Code"/>
                <a:rFonts eastAsia="Fira Code" ascii="Fira Code" hAnsi="Fira Code"/>
              </a:rPr>
              <a:t>emb = OpenAIEmbeddings(model="text-embedding-3-small")</a:t>
            </a:r>
          </a:p>
          <a:p>
            <a:pPr algn="l"/>
            <a:r>
              <a:rPr sz="900" b="0" i="0">
                <a:solidFill>
                  <a:srgbClr val="6B7280"/>
                </a:solidFill>
                <a:latin typeface="Fira Code"/>
                <a:rFonts eastAsia="Fira Code" ascii="Fira Code" hAnsi="Fira Code"/>
              </a:rPr>
              <a:t>  5  </a:t>
            </a:r>
            <a:r>
              <a:rPr sz="1000" b="0" i="0">
                <a:solidFill>
                  <a:srgbClr val="374151"/>
                </a:solidFill>
                <a:latin typeface="Fira Code"/>
                <a:rFonts eastAsia="Fira Code" ascii="Fira Code" hAnsi="Fira Code"/>
              </a:rPr>
              <a:t># === 1. 文档向量化入库 ===</a:t>
            </a:r>
          </a:p>
          <a:p>
            <a:pPr algn="l"/>
            <a:r>
              <a:rPr sz="900" b="0" i="0">
                <a:solidFill>
                  <a:srgbClr val="6B7280"/>
                </a:solidFill>
                <a:latin typeface="Fira Code"/>
                <a:rFonts eastAsia="Fira Code" ascii="Fira Code" hAnsi="Fira Code"/>
              </a:rPr>
              <a:t>  6  </a:t>
            </a:r>
            <a:r>
              <a:rPr sz="1000" b="0" i="0">
                <a:solidFill>
                  <a:srgbClr val="374151"/>
                </a:solidFill>
                <a:latin typeface="Fira Code"/>
                <a:rFonts eastAsia="Fira Code" ascii="Fira Code" hAnsi="Fira Code"/>
              </a:rPr>
              <a:t>vector_store = PGVector.from_documents(</a:t>
            </a:r>
          </a:p>
          <a:p>
            <a:pPr algn="l"/>
            <a:r>
              <a:rPr sz="900" b="0" i="0">
                <a:solidFill>
                  <a:srgbClr val="6B7280"/>
                </a:solidFill>
                <a:latin typeface="Fira Code"/>
                <a:rFonts eastAsia="Fira Code" ascii="Fira Code" hAnsi="Fira Code"/>
              </a:rPr>
              <a:t>  7  </a:t>
            </a:r>
            <a:r>
              <a:rPr sz="1000" b="0" i="0">
                <a:solidFill>
                  <a:srgbClr val="374151"/>
                </a:solidFill>
                <a:latin typeface="Fira Code"/>
                <a:rFonts eastAsia="Fira Code" ascii="Fira Code" hAnsi="Fira Code"/>
              </a:rPr>
              <a:t>    documents=docs,</a:t>
            </a:r>
          </a:p>
          <a:p>
            <a:pPr algn="l"/>
            <a:r>
              <a:rPr sz="900" b="0" i="0">
                <a:solidFill>
                  <a:srgbClr val="6B7280"/>
                </a:solidFill>
                <a:latin typeface="Fira Code"/>
                <a:rFonts eastAsia="Fira Code" ascii="Fira Code" hAnsi="Fira Code"/>
              </a:rPr>
              <a:t>  8  </a:t>
            </a:r>
            <a:r>
              <a:rPr sz="1000" b="0" i="0">
                <a:solidFill>
                  <a:srgbClr val="374151"/>
                </a:solidFill>
                <a:latin typeface="Fira Code"/>
                <a:rFonts eastAsia="Fira Code" ascii="Fira Code" hAnsi="Fira Code"/>
              </a:rPr>
              <a:t>    embedding=emb,</a:t>
            </a:r>
          </a:p>
          <a:p>
            <a:pPr algn="l"/>
            <a:r>
              <a:rPr sz="900" b="0" i="0">
                <a:solidFill>
                  <a:srgbClr val="6B7280"/>
                </a:solidFill>
                <a:latin typeface="Fira Code"/>
                <a:rFonts eastAsia="Fira Code" ascii="Fira Code" hAnsi="Fira Code"/>
              </a:rPr>
              <a:t>  9  </a:t>
            </a:r>
            <a:r>
              <a:rPr sz="1000" b="0" i="0">
                <a:solidFill>
                  <a:srgbClr val="374151"/>
                </a:solidFill>
                <a:latin typeface="Fira Code"/>
                <a:rFonts eastAsia="Fira Code" ascii="Fira Code" hAnsi="Fira Code"/>
              </a:rPr>
              <a:t>    connection_string="postgresql://user:pwd@localhost/maxkb",</a:t>
            </a:r>
          </a:p>
          <a:p>
            <a:pPr algn="l"/>
            <a:r>
              <a:rPr sz="900" b="0" i="0">
                <a:solidFill>
                  <a:srgbClr val="6B7280"/>
                </a:solidFill>
                <a:latin typeface="Fira Code"/>
                <a:rFonts eastAsia="Fira Code" ascii="Fira Code" hAnsi="Fira Code"/>
              </a:rPr>
              <a:t> 10  </a:t>
            </a:r>
            <a:r>
              <a:rPr sz="1000" b="0" i="0">
                <a:solidFill>
                  <a:srgbClr val="374151"/>
                </a:solidFill>
                <a:latin typeface="Fira Code"/>
                <a:rFonts eastAsia="Fira Code" ascii="Fira Code" hAnsi="Fira Code"/>
              </a:rPr>
              <a:t>)</a:t>
            </a:r>
          </a:p>
          <a:p>
            <a:pPr algn="l"/>
            <a:r>
              <a:rPr sz="900" b="0" i="0">
                <a:solidFill>
                  <a:srgbClr val="6B7280"/>
                </a:solidFill>
                <a:latin typeface="Fira Code"/>
                <a:rFonts eastAsia="Fira Code" ascii="Fira Code" hAnsi="Fira Code"/>
              </a:rPr>
              <a:t> 11  </a:t>
            </a:r>
            <a:r>
              <a:rPr sz="1000" b="0" i="0">
                <a:solidFill>
                  <a:srgbClr val="374151"/>
                </a:solidFill>
                <a:latin typeface="Fira Code"/>
                <a:rFonts eastAsia="Fira Code" ascii="Fira Code" hAnsi="Fira Code"/>
              </a:rPr>
              <a:t># === 2. 相似度检索 ===</a:t>
            </a:r>
          </a:p>
          <a:p>
            <a:pPr algn="l"/>
            <a:r>
              <a:rPr sz="900" b="0" i="0">
                <a:solidFill>
                  <a:srgbClr val="6B7280"/>
                </a:solidFill>
                <a:latin typeface="Fira Code"/>
                <a:rFonts eastAsia="Fira Code" ascii="Fira Code" hAnsi="Fira Code"/>
              </a:rPr>
              <a:t> 12  </a:t>
            </a:r>
            <a:r>
              <a:rPr sz="1000" b="0" i="0">
                <a:solidFill>
                  <a:srgbClr val="374151"/>
                </a:solidFill>
                <a:latin typeface="Fira Code"/>
                <a:rFonts eastAsia="Fira Code" ascii="Fira Code" hAnsi="Fira Code"/>
              </a:rPr>
              <a:t>results = vector_store.similarity_search_with_score(</a:t>
            </a:r>
          </a:p>
          <a:p>
            <a:pPr algn="l"/>
            <a:r>
              <a:rPr sz="900" b="0" i="0">
                <a:solidFill>
                  <a:srgbClr val="6B7280"/>
                </a:solidFill>
                <a:latin typeface="Fira Code"/>
                <a:rFonts eastAsia="Fira Code" ascii="Fira Code" hAnsi="Fira Code"/>
              </a:rPr>
              <a:t> 13  </a:t>
            </a:r>
            <a:r>
              <a:rPr sz="1000" b="0" i="0">
                <a:solidFill>
                  <a:srgbClr val="374151"/>
                </a:solidFill>
                <a:latin typeface="Fira Code"/>
                <a:rFonts eastAsia="Fira Code" ascii="Fira Code" hAnsi="Fira Code"/>
              </a:rPr>
              <a:t>    "MaxKB 的核心特性", k=3</a:t>
            </a:r>
          </a:p>
          <a:p>
            <a:pPr algn="l"/>
            <a:r>
              <a:rPr sz="900" b="0" i="0">
                <a:solidFill>
                  <a:srgbClr val="6B7280"/>
                </a:solidFill>
                <a:latin typeface="Fira Code"/>
                <a:rFonts eastAsia="Fira Code" ascii="Fira Code" hAnsi="Fira Code"/>
              </a:rPr>
              <a:t> 14  </a:t>
            </a:r>
            <a:r>
              <a:rPr sz="1000" b="0" i="0">
                <a:solidFill>
                  <a:srgbClr val="374151"/>
                </a:solidFill>
                <a:latin typeface="Fira Code"/>
                <a:rFonts eastAsia="Fira Code" ascii="Fira Code" hAnsi="Fira Code"/>
              </a:rPr>
              <a:t>)</a:t>
            </a:r>
          </a:p>
          <a:p>
            <a:pPr algn="l"/>
            <a:r>
              <a:rPr sz="900" b="0" i="0">
                <a:solidFill>
                  <a:srgbClr val="6B7280"/>
                </a:solidFill>
                <a:latin typeface="Fira Code"/>
                <a:rFonts eastAsia="Fira Code" ascii="Fira Code" hAnsi="Fira Code"/>
              </a:rPr>
              <a:t> 15  </a:t>
            </a:r>
            <a:r>
              <a:rPr sz="1000" b="0" i="0">
                <a:solidFill>
                  <a:srgbClr val="374151"/>
                </a:solidFill>
                <a:latin typeface="Fira Code"/>
                <a:rFonts eastAsia="Fira Code" ascii="Fira Code" hAnsi="Fira Code"/>
              </a:rPr>
              <a:t>for doc, score in results:</a:t>
            </a:r>
          </a:p>
          <a:p>
            <a:pPr algn="l"/>
            <a:r>
              <a:rPr sz="900" b="0" i="0">
                <a:solidFill>
                  <a:srgbClr val="6B7280"/>
                </a:solidFill>
                <a:latin typeface="Fira Code"/>
                <a:rFonts eastAsia="Fira Code" ascii="Fira Code" hAnsi="Fira Code"/>
              </a:rPr>
              <a:t> 16  </a:t>
            </a:r>
            <a:r>
              <a:rPr sz="1000" b="0" i="0">
                <a:solidFill>
                  <a:srgbClr val="374151"/>
                </a:solidFill>
                <a:latin typeface="Fira Code"/>
                <a:rFonts eastAsia="Fira Code" ascii="Fira Code" hAnsi="Fira Code"/>
              </a:rPr>
              <a:t>    print(f"相关度 {score:.3f}: {doc.page_content[:80]}...")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1">
                <a:solidFill>
                  <a:srgbClr val="8B5CF6"/>
                </a:solidFill>
                <a:latin typeface="微软雅黑"/>
                <a:rFonts eastAsia="微软雅黑" ascii="微软雅黑" hAnsi="微软雅黑"/>
              </a:rPr>
              <a:t>💡 MaxKB 在 LangChain 之上做了封装，隐藏了 PGVector 细节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企业级智能体平台 · MaxKB 教学课件  ·  小陶老师  · 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14 / 68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2194560" cy="25603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  <a:rFonts eastAsia="微软雅黑" ascii="微软雅黑" hAnsi="微软雅黑"/>
              </a:rPr>
              <a:t>PART 1 · 理论基座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5B2EBF"/>
                </a:solidFill>
                <a:latin typeface="微软雅黑"/>
                <a:rFonts eastAsia="微软雅黑" ascii="微软雅黑" hAnsi="微软雅黑"/>
              </a:rPr>
              <a:t>1.9 LangChain · LLM 应用框架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MaxKB 后端基于 LangChain 构建 · 提供 Chain / Agent / Tool / Retriever / Memory 标准化抽象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743200"/>
            <a:ext cx="3657600" cy="12801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743200"/>
            <a:ext cx="3657600" cy="1280160"/>
          </a:xfrm>
          <a:prstGeom prst="rect">
            <a:avLst/>
          </a:prstGeom>
          <a:noFill/>
          <a:ln w="254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97180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8B5CF6"/>
                </a:solidFill>
                <a:latin typeface="微软雅黑"/>
                <a:rFonts eastAsia="微软雅黑" ascii="微软雅黑" hAnsi="微软雅黑"/>
              </a:rPr>
              <a:t>Models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204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模型层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2743200"/>
            <a:ext cx="3657600" cy="12801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2743200"/>
            <a:ext cx="3657600" cy="1280160"/>
          </a:xfrm>
          <a:prstGeom prst="rect">
            <a:avLst/>
          </a:prstGeom>
          <a:noFill/>
          <a:ln w="254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297180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3B82F6"/>
                </a:solidFill>
                <a:latin typeface="微软雅黑"/>
                <a:rFonts eastAsia="微软雅黑" ascii="微软雅黑" hAnsi="微软雅黑"/>
              </a:rPr>
              <a:t>Prompts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35204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提示词层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2743200"/>
            <a:ext cx="3657600" cy="12801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2743200"/>
            <a:ext cx="3657600" cy="1280160"/>
          </a:xfrm>
          <a:prstGeom prst="rect">
            <a:avLst/>
          </a:prstGeom>
          <a:noFill/>
          <a:ln w="254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297180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34D399"/>
                </a:solidFill>
                <a:latin typeface="微软雅黑"/>
                <a:rFonts eastAsia="微软雅黑" ascii="微软雅黑" hAnsi="微软雅黑"/>
              </a:rPr>
              <a:t>Chains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35204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任务链层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297680"/>
            <a:ext cx="3657600" cy="12801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297680"/>
            <a:ext cx="3657600" cy="1280160"/>
          </a:xfrm>
          <a:prstGeom prst="rect">
            <a:avLst/>
          </a:prstGeom>
          <a:noFill/>
          <a:ln w="25400">
            <a:solidFill>
              <a:srgbClr val="5B2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52628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5B2EBF"/>
                </a:solidFill>
                <a:latin typeface="微软雅黑"/>
                <a:rFonts eastAsia="微软雅黑" ascii="微软雅黑" hAnsi="微软雅黑"/>
              </a:rPr>
              <a:t>Retrievers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07492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检索层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4297680"/>
            <a:ext cx="3657600" cy="12801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97680" y="4297680"/>
            <a:ext cx="3657600" cy="1280160"/>
          </a:xfrm>
          <a:prstGeom prst="rect">
            <a:avLst/>
          </a:prstGeom>
          <a:noFill/>
          <a:ln w="254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97680" y="452628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1E40AF"/>
                </a:solidFill>
                <a:latin typeface="微软雅黑"/>
                <a:rFonts eastAsia="微软雅黑" ascii="微软雅黑" hAnsi="微软雅黑"/>
              </a:rPr>
              <a:t>Agents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507492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Agent 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4297680"/>
            <a:ext cx="3657600" cy="12801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38160" y="4297680"/>
            <a:ext cx="3657600" cy="1280160"/>
          </a:xfrm>
          <a:prstGeom prst="rect">
            <a:avLst/>
          </a:prstGeom>
          <a:noFill/>
          <a:ln w="25400">
            <a:solidFill>
              <a:srgbClr val="C4B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38160" y="452628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C4B5FD"/>
                </a:solidFill>
                <a:latin typeface="微软雅黑"/>
                <a:rFonts eastAsia="微软雅黑" ascii="微软雅黑" hAnsi="微软雅黑"/>
              </a:rPr>
              <a:t>Memory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507492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记忆层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1">
                <a:solidFill>
                  <a:srgbClr val="8B5CF6"/>
                </a:solidFill>
                <a:latin typeface="微软雅黑"/>
                <a:rFonts eastAsia="微软雅黑" ascii="微软雅黑" hAnsi="微软雅黑"/>
              </a:rPr>
              <a:t>⚡ MaxKB 在这 6 层之上封装了「应用」「知识库」「工作流」三大业务概念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企业级智能体平台 · MaxKB 教学课件  ·  小陶老师  · 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15 / 68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2194560" cy="25603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  <a:rFonts eastAsia="微软雅黑" ascii="微软雅黑" hAnsi="微软雅黑"/>
              </a:rPr>
              <a:t>PART 1 · 理论基座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5B2EBF"/>
                </a:solidFill>
                <a:latin typeface="微软雅黑"/>
                <a:rFonts eastAsia="微软雅黑" ascii="微软雅黑" hAnsi="微软雅黑"/>
              </a:rPr>
              <a:t>1.10 模型中立 · 一键切换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支持市面上几乎所有主流大模型 · 模型中立让企业不被锁定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560320"/>
            <a:ext cx="2743200" cy="347472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560320"/>
            <a:ext cx="2743200" cy="4572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65176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微软雅黑"/>
                <a:rFonts eastAsia="微软雅黑" ascii="微软雅黑" hAnsi="微软雅黑"/>
              </a:rPr>
              <a:t>🇨🇳 国内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0040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✓ DeepSeek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49300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✓ 通义千问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85616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✓ 腾讯混元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07822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✓ 字节豆包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370832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✓ 百度千帆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66344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✓ 智谱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95604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✓ Kimi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3280" y="2560320"/>
            <a:ext cx="2743200" cy="347472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83280" y="2560320"/>
            <a:ext cx="2743200" cy="4572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3280" y="265176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微软雅黑"/>
                <a:rFonts eastAsia="微软雅黑" ascii="微软雅黑" hAnsi="微软雅黑"/>
              </a:rPr>
              <a:t>🌐 国外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320040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✓ OpenAI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349300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✓ Claude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3785616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✓ Gemini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407822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✓ Mistral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4370832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✓ Llama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466344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✓ Qwen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2560320"/>
            <a:ext cx="2743200" cy="347472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60" y="2560320"/>
            <a:ext cx="2743200" cy="4572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265176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微软雅黑"/>
                <a:rFonts eastAsia="微软雅黑" ascii="微软雅黑" hAnsi="微软雅黑"/>
              </a:rPr>
              <a:t>🏠 私有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320040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✓ Llama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349300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✓ Qwen 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3785616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✓ Mistral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407822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✓ ChatGLM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4370832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✓ Baichuan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235440" y="2560320"/>
            <a:ext cx="2743200" cy="347472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235440" y="2560320"/>
            <a:ext cx="2743200" cy="457200"/>
          </a:xfrm>
          <a:prstGeom prst="rect">
            <a:avLst/>
          </a:prstGeom>
          <a:solidFill>
            <a:srgbClr val="5B2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35440" y="265176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微软雅黑"/>
                <a:rFonts eastAsia="微软雅黑" ascii="微软雅黑" hAnsi="微软雅黑"/>
              </a:rPr>
              <a:t>🔧 多模态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18320" y="320040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✓ GPT-4o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18320" y="349300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✓ Claude 3.5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18320" y="3785616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✓ Gemini 1.5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18320" y="407822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✓ Qwen-VL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企业级智能体平台 · MaxKB 教学课件  ·  小陶老师  ·  2026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16 / 68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2194560" cy="25603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  <a:rFonts eastAsia="微软雅黑" ascii="微软雅黑" hAnsi="微软雅黑"/>
              </a:rPr>
              <a:t>PART 1 · 理论基座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5B2EBF"/>
                </a:solidFill>
                <a:latin typeface="微软雅黑"/>
                <a:rFonts eastAsia="微软雅黑" ascii="微软雅黑" hAnsi="微软雅黑"/>
              </a:rPr>
              <a:t>1.11 Workflow · 可视化工作流</a:t>
            </a:r>
          </a:p>
        </p:txBody>
      </p:sp>
      <p:pic>
        <p:nvPicPr>
          <p:cNvPr id="5" name="Picture 4" descr="03_工作流编排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0"/>
            <a:ext cx="11612880" cy="641093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9436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1">
                <a:solidFill>
                  <a:srgbClr val="5B2EBF"/>
                </a:solidFill>
                <a:latin typeface="微软雅黑"/>
                <a:rFonts eastAsia="微软雅黑" ascii="微软雅黑" hAnsi="微软雅黑"/>
              </a:rPr>
              <a:t>💡 工作流让非程序员也能编排复杂 AI 业务，是 MaxKB 区别于普通 RAG 工具的核心特性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企业级智能体平台 · MaxKB 教学课件  ·  小陶老师  ·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17 / 68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2194560" cy="25603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  <a:rFonts eastAsia="微软雅黑" ascii="微软雅黑" hAnsi="微软雅黑"/>
              </a:rPr>
              <a:t>PART 1 · 理论基座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5B2EBF"/>
                </a:solidFill>
                <a:latin typeface="微软雅黑"/>
                <a:rFonts eastAsia="微软雅黑" ascii="微软雅黑" hAnsi="微软雅黑"/>
              </a:rPr>
              <a:t>1.12 MCP · 模型上下文协议</a:t>
            </a:r>
          </a:p>
        </p:txBody>
      </p:sp>
      <p:pic>
        <p:nvPicPr>
          <p:cNvPr id="5" name="Picture 4" descr="05_MCP工具生态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0"/>
            <a:ext cx="11612880" cy="743135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9436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1">
                <a:solidFill>
                  <a:srgbClr val="5B2EBF"/>
                </a:solidFill>
                <a:latin typeface="微软雅黑"/>
                <a:rFonts eastAsia="微软雅黑" ascii="微软雅黑" hAnsi="微软雅黑"/>
              </a:rPr>
              <a:t>⚡ MCP 让 LLM 用标准化方式调用任何外部系统，把企业 CRM/ERP/数据库全部纳入 LLM 工作流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企业级智能体平台 · MaxKB 教学课件  ·  小陶老师  ·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18 / 68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2194560" cy="25603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  <a:rFonts eastAsia="微软雅黑" ascii="微软雅黑" hAnsi="微软雅黑"/>
              </a:rPr>
              <a:t>PART 1 · 理论基座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5B2EBF"/>
                </a:solidFill>
                <a:latin typeface="微软雅黑"/>
                <a:rFonts eastAsia="微软雅黑" ascii="微软雅黑" hAnsi="微软雅黑"/>
              </a:rPr>
              <a:t>1.13 Agent · 从 RAG 到 Agent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201168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743200"/>
            <a:ext cx="2011680" cy="1828800"/>
          </a:xfrm>
          <a:prstGeom prst="rect">
            <a:avLst/>
          </a:prstGeom>
          <a:noFill/>
          <a:ln w="254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108960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Prompt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49040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直接问 LLM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3520440"/>
            <a:ext cx="182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8B5CF6"/>
                </a:solidFill>
                <a:latin typeface="微软雅黑"/>
                <a:rFonts eastAsia="微软雅黑" ascii="微软雅黑" hAnsi="微软雅黑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2743200"/>
            <a:ext cx="201168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0" y="2743200"/>
            <a:ext cx="2011680" cy="1828800"/>
          </a:xfrm>
          <a:prstGeom prst="rect">
            <a:avLst/>
          </a:prstGeom>
          <a:noFill/>
          <a:ln w="254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0" y="3108960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8B5CF6"/>
                </a:solidFill>
                <a:latin typeface="微软雅黑"/>
                <a:rFonts eastAsia="微软雅黑" ascii="微软雅黑" hAnsi="微软雅黑"/>
              </a:rPr>
              <a:t>RAG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3749040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检索+生成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3520440"/>
            <a:ext cx="182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8B5CF6"/>
                </a:solidFill>
                <a:latin typeface="微软雅黑"/>
                <a:rFonts eastAsia="微软雅黑" ascii="微软雅黑" hAnsi="微软雅黑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2743200"/>
            <a:ext cx="201168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0" y="2743200"/>
            <a:ext cx="2011680" cy="1828800"/>
          </a:xfrm>
          <a:prstGeom prst="rect">
            <a:avLst/>
          </a:prstGeom>
          <a:noFill/>
          <a:ln w="254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0" y="3108960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3B82F6"/>
                </a:solidFill>
                <a:latin typeface="微软雅黑"/>
                <a:rFonts eastAsia="微软雅黑" ascii="微软雅黑" hAnsi="微软雅黑"/>
              </a:rPr>
              <a:t>Harness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3749040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工具调用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3520440"/>
            <a:ext cx="182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8B5CF6"/>
                </a:solidFill>
                <a:latin typeface="微软雅黑"/>
                <a:rFonts eastAsia="微软雅黑" ascii="微软雅黑" hAnsi="微软雅黑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0" y="2743200"/>
            <a:ext cx="201168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0" y="2743200"/>
            <a:ext cx="2011680" cy="1828800"/>
          </a:xfrm>
          <a:prstGeom prst="rect">
            <a:avLst/>
          </a:prstGeom>
          <a:noFill/>
          <a:ln w="25400">
            <a:solidFill>
              <a:srgbClr val="5B2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0" y="3108960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5B2EBF"/>
                </a:solidFill>
                <a:latin typeface="微软雅黑"/>
                <a:rFonts eastAsia="微软雅黑" ascii="微软雅黑" hAnsi="微软雅黑"/>
              </a:rPr>
              <a:t>Loop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3749040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多轮迭代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600" y="3520440"/>
            <a:ext cx="182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8B5CF6"/>
                </a:solidFill>
                <a:latin typeface="微软雅黑"/>
                <a:rFonts eastAsia="微软雅黑" ascii="微软雅黑" hAnsi="微软雅黑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01200" y="2743200"/>
            <a:ext cx="201168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601200" y="2743200"/>
            <a:ext cx="2011680" cy="1828800"/>
          </a:xfrm>
          <a:prstGeom prst="rect">
            <a:avLst/>
          </a:prstGeom>
          <a:noFill/>
          <a:ln w="254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0" y="3108960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34D399"/>
                </a:solidFill>
                <a:latin typeface="微软雅黑"/>
                <a:rFonts eastAsia="微软雅黑" ascii="微软雅黑" hAnsi="微软雅黑"/>
              </a:rPr>
              <a:t>Agent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3749040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自主规划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1">
                <a:solidFill>
                  <a:srgbClr val="5B2EBF"/>
                </a:solidFill>
                <a:latin typeface="微软雅黑"/>
                <a:rFonts eastAsia="微软雅黑" ascii="微软雅黑" hAnsi="微软雅黑"/>
              </a:rPr>
              <a:t>💡 MaxKB 已实现 RAG → Harness → Loop，Agent 通过 Workflow + MCP 组合即可达成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6692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🎓 参考北大肖睿团队《Harness Engineering——驯服 Agent》69 页报告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企业级智能体平台 · MaxKB 教学课件  ·  小陶老师  · 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19 / 68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2194560" cy="25603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  <a:rFonts eastAsia="微软雅黑" ascii="微软雅黑" hAnsi="微软雅黑"/>
              </a:rPr>
              <a:t>PART 1 · 理论基座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5B2EBF"/>
                </a:solidFill>
                <a:latin typeface="微软雅黑"/>
                <a:rFonts eastAsia="微软雅黑" ascii="微软雅黑" hAnsi="微软雅黑"/>
              </a:rPr>
              <a:t>1.14 MaxKB 技术栈剖析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3657600" cy="155448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91440" cy="155448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8B5CF6"/>
                </a:solidFill>
                <a:latin typeface="微软雅黑"/>
                <a:rFonts eastAsia="微软雅黑" ascii="微软雅黑" hAnsi="微软雅黑"/>
              </a:rPr>
              <a:t>Vue.js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前端 SPA 框架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828800"/>
            <a:ext cx="3657600" cy="155448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828800"/>
            <a:ext cx="91440" cy="155448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01168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33172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3B82F6"/>
                </a:solidFill>
                <a:latin typeface="微软雅黑"/>
                <a:rFonts eastAsia="微软雅黑" ascii="微软雅黑" hAnsi="微软雅黑"/>
              </a:rPr>
              <a:t>Python · Django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83464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后端 Web 框架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828800"/>
            <a:ext cx="3657600" cy="155448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828800"/>
            <a:ext cx="91440" cy="1554480"/>
          </a:xfrm>
          <a:prstGeom prst="rect">
            <a:avLst/>
          </a:prstGeom>
          <a:solidFill>
            <a:srgbClr val="5B2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201168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LLM Framework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33172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5B2EBF"/>
                </a:solidFill>
                <a:latin typeface="微软雅黑"/>
                <a:rFonts eastAsia="微软雅黑" ascii="微软雅黑" hAnsi="微软雅黑"/>
              </a:rPr>
              <a:t>LangChain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83464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大模型编排框架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657600"/>
            <a:ext cx="3657600" cy="155448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657600"/>
            <a:ext cx="91440" cy="155448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84048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Database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16052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E40AF"/>
                </a:solidFill>
                <a:latin typeface="微软雅黑"/>
                <a:rFonts eastAsia="微软雅黑" ascii="微软雅黑" hAnsi="微软雅黑"/>
              </a:rPr>
              <a:t>PostgreSQL · pgvector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66344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关系型 + 向量数据库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97680" y="3657600"/>
            <a:ext cx="3657600" cy="155448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97680" y="3657600"/>
            <a:ext cx="91440" cy="155448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0" y="384048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Container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416052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34D399"/>
                </a:solidFill>
                <a:latin typeface="微软雅黑"/>
                <a:rFonts eastAsia="微软雅黑" ascii="微软雅黑" hAnsi="微软雅黑"/>
              </a:rPr>
              <a:t>Docker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466344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容器化部署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38160" y="3657600"/>
            <a:ext cx="3657600" cy="155448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38160" y="3657600"/>
            <a:ext cx="91440" cy="1554480"/>
          </a:xfrm>
          <a:prstGeom prst="rect">
            <a:avLst/>
          </a:prstGeom>
          <a:solidFill>
            <a:srgbClr val="C4B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0" y="384048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License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416052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C4B5FD"/>
                </a:solidFill>
                <a:latin typeface="微软雅黑"/>
                <a:rFonts eastAsia="微软雅黑" ascii="微软雅黑" hAnsi="微软雅黑"/>
              </a:rPr>
              <a:t>GPL v3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466344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开源协议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企业级智能体平台 · MaxKB 教学课件  ·  小陶老师  · 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20 / 68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5B2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0"/>
            <a:ext cx="3657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微软雅黑"/>
                <a:rFonts eastAsia="微软雅黑" ascii="微软雅黑" hAnsi="微软雅黑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47472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C4B5FD"/>
                </a:solidFill>
                <a:latin typeface="微软雅黑"/>
                <a:rFonts eastAsia="微软雅黑" ascii="微软雅黑" hAnsi="微软雅黑"/>
              </a:rPr>
              <a:t>6 步端到端落地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0"/>
            <a:ext cx="80768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2286000"/>
            <a:ext cx="7315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5B2EBF"/>
                </a:solidFill>
                <a:latin typeface="微软雅黑"/>
                <a:rFonts eastAsia="微软雅黑" ascii="微软雅黑" hAnsi="微软雅黑"/>
              </a:rPr>
              <a:t>PART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926080"/>
            <a:ext cx="7315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实操 · 6 步端到端落地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3840480"/>
            <a:ext cx="73152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本部分按 6 步实操链组织：</a:t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· 环境准备 · Docker 部署</a:t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· 模型接入 · 知识库构建</a:t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· 应用调试 · 发布嵌入</a:t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· 6 大最佳实践 · 排坑指南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3657600"/>
            <a:ext cx="914400" cy="457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企业级智能体平台 · MaxKB 教学课件  ·  小陶老师  · 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21 / 60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2194560" cy="25603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  <a:rFonts eastAsia="微软雅黑" ascii="微软雅黑" hAnsi="微软雅黑"/>
              </a:rPr>
              <a:t>PART 2 · 实操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5B2EBF"/>
                </a:solidFill>
                <a:latin typeface="微软雅黑"/>
                <a:rFonts eastAsia="微软雅黑" ascii="微软雅黑" hAnsi="微软雅黑"/>
              </a:rPr>
              <a:t>2.1 Step 1 · Docker 一键部署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11247120" cy="32004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11247120" cy="25603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048256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微软雅黑"/>
                <a:rFonts eastAsia="微软雅黑" ascii="微软雅黑" hAnsi="微软雅黑"/>
              </a:rPr>
              <a:t>▶ BASH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31720"/>
            <a:ext cx="10972800" cy="278892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Fira Code"/>
                <a:rFonts eastAsia="Fira Code" ascii="Fira Code" hAnsi="Fira Code"/>
              </a:rPr>
              <a:t>  1  </a:t>
            </a:r>
            <a:r>
              <a:rPr sz="1000" b="0" i="0">
                <a:solidFill>
                  <a:srgbClr val="374151"/>
                </a:solidFill>
                <a:latin typeface="Fira Code"/>
                <a:rFonts eastAsia="Fira Code" ascii="Fira Code" hAnsi="Fira Code"/>
              </a:rPr>
              <a:t># 一行命令启动 MaxKB</a:t>
            </a:r>
          </a:p>
          <a:p>
            <a:pPr algn="l"/>
            <a:r>
              <a:rPr sz="900" b="0" i="0">
                <a:solidFill>
                  <a:srgbClr val="6B7280"/>
                </a:solidFill>
                <a:latin typeface="Fira Code"/>
                <a:rFonts eastAsia="Fira Code" ascii="Fira Code" hAnsi="Fira Code"/>
              </a:rPr>
              <a:t>  2  </a:t>
            </a:r>
            <a:r>
              <a:rPr sz="1000" b="0" i="0">
                <a:solidFill>
                  <a:srgbClr val="374151"/>
                </a:solidFill>
                <a:latin typeface="Fira Code"/>
                <a:rFonts eastAsia="Fira Code" ascii="Fira Code" hAnsi="Fira Code"/>
              </a:rPr>
              <a:t>docker run -d \</a:t>
            </a:r>
          </a:p>
          <a:p>
            <a:pPr algn="l"/>
            <a:r>
              <a:rPr sz="900" b="0" i="0">
                <a:solidFill>
                  <a:srgbClr val="6B7280"/>
                </a:solidFill>
                <a:latin typeface="Fira Code"/>
                <a:rFonts eastAsia="Fira Code" ascii="Fira Code" hAnsi="Fira Code"/>
              </a:rPr>
              <a:t>  3  </a:t>
            </a:r>
            <a:r>
              <a:rPr sz="1000" b="0" i="0">
                <a:solidFill>
                  <a:srgbClr val="374151"/>
                </a:solidFill>
                <a:latin typeface="Fira Code"/>
                <a:rFonts eastAsia="Fira Code" ascii="Fira Code" hAnsi="Fira Code"/>
              </a:rPr>
              <a:t>    --name=maxkb \</a:t>
            </a:r>
          </a:p>
          <a:p>
            <a:pPr algn="l"/>
            <a:r>
              <a:rPr sz="900" b="0" i="0">
                <a:solidFill>
                  <a:srgbClr val="6B7280"/>
                </a:solidFill>
                <a:latin typeface="Fira Code"/>
                <a:rFonts eastAsia="Fira Code" ascii="Fira Code" hAnsi="Fira Code"/>
              </a:rPr>
              <a:t>  4  </a:t>
            </a:r>
            <a:r>
              <a:rPr sz="1000" b="0" i="0">
                <a:solidFill>
                  <a:srgbClr val="374151"/>
                </a:solidFill>
                <a:latin typeface="Fira Code"/>
                <a:rFonts eastAsia="Fira Code" ascii="Fira Code" hAnsi="Fira Code"/>
              </a:rPr>
              <a:t>    --restart=always \</a:t>
            </a:r>
          </a:p>
          <a:p>
            <a:pPr algn="l"/>
            <a:r>
              <a:rPr sz="900" b="0" i="0">
                <a:solidFill>
                  <a:srgbClr val="6B7280"/>
                </a:solidFill>
                <a:latin typeface="Fira Code"/>
                <a:rFonts eastAsia="Fira Code" ascii="Fira Code" hAnsi="Fira Code"/>
              </a:rPr>
              <a:t>  5  </a:t>
            </a:r>
            <a:r>
              <a:rPr sz="1000" b="0" i="0">
                <a:solidFill>
                  <a:srgbClr val="374151"/>
                </a:solidFill>
                <a:latin typeface="Fira Code"/>
                <a:rFonts eastAsia="Fira Code" ascii="Fira Code" hAnsi="Fira Code"/>
              </a:rPr>
              <a:t>    -p 8080:8080 \</a:t>
            </a:r>
          </a:p>
          <a:p>
            <a:pPr algn="l"/>
            <a:r>
              <a:rPr sz="900" b="0" i="0">
                <a:solidFill>
                  <a:srgbClr val="6B7280"/>
                </a:solidFill>
                <a:latin typeface="Fira Code"/>
                <a:rFonts eastAsia="Fira Code" ascii="Fira Code" hAnsi="Fira Code"/>
              </a:rPr>
              <a:t>  6  </a:t>
            </a:r>
            <a:r>
              <a:rPr sz="1000" b="0" i="0">
                <a:solidFill>
                  <a:srgbClr val="374151"/>
                </a:solidFill>
                <a:latin typeface="Fira Code"/>
                <a:rFonts eastAsia="Fira Code" ascii="Fira Code" hAnsi="Fira Code"/>
              </a:rPr>
              <a:t>    -v ~/.maxkb:/opt/maxkb \</a:t>
            </a:r>
          </a:p>
          <a:p>
            <a:pPr algn="l"/>
            <a:r>
              <a:rPr sz="900" b="0" i="0">
                <a:solidFill>
                  <a:srgbClr val="6B7280"/>
                </a:solidFill>
                <a:latin typeface="Fira Code"/>
                <a:rFonts eastAsia="Fira Code" ascii="Fira Code" hAnsi="Fira Code"/>
              </a:rPr>
              <a:t>  7  </a:t>
            </a:r>
            <a:r>
              <a:rPr sz="1000" b="0" i="0">
                <a:solidFill>
                  <a:srgbClr val="374151"/>
                </a:solidFill>
                <a:latin typeface="Fira Code"/>
                <a:rFonts eastAsia="Fira Code" ascii="Fira Code" hAnsi="Fira Code"/>
              </a:rPr>
              <a:t>    1panel/maxkb</a:t>
            </a:r>
          </a:p>
          <a:p>
            <a:pPr algn="l"/>
            <a:r>
              <a:rPr sz="900" b="0" i="0">
                <a:solidFill>
                  <a:srgbClr val="6B7280"/>
                </a:solidFill>
                <a:latin typeface="Fira Code"/>
                <a:rFonts eastAsia="Fira Code" ascii="Fira Code" hAnsi="Fira Code"/>
              </a:rPr>
              <a:t>  8  </a:t>
            </a:r>
            <a:r>
              <a:rPr sz="1000" b="0" i="0">
                <a:solidFill>
                  <a:srgbClr val="374151"/>
                </a:solidFill>
                <a:latin typeface="Fira Code"/>
                <a:rFonts eastAsia="Fira Code" ascii="Fira Code" hAnsi="Fira Code"/>
              </a:rPr>
              <a:t/>
            </a:r>
          </a:p>
          <a:p>
            <a:pPr algn="l"/>
            <a:r>
              <a:rPr sz="900" b="0" i="0">
                <a:solidFill>
                  <a:srgbClr val="6B7280"/>
                </a:solidFill>
                <a:latin typeface="Fira Code"/>
                <a:rFonts eastAsia="Fira Code" ascii="Fira Code" hAnsi="Fira Code"/>
              </a:rPr>
              <a:t>  9  </a:t>
            </a:r>
            <a:r>
              <a:rPr sz="1000" b="0" i="0">
                <a:solidFill>
                  <a:srgbClr val="374151"/>
                </a:solidFill>
                <a:latin typeface="Fira Code"/>
                <a:rFonts eastAsia="Fira Code" ascii="Fira Code" hAnsi="Fira Code"/>
              </a:rPr>
              <a:t># 查看容器状态</a:t>
            </a:r>
          </a:p>
          <a:p>
            <a:pPr algn="l"/>
            <a:r>
              <a:rPr sz="900" b="0" i="0">
                <a:solidFill>
                  <a:srgbClr val="6B7280"/>
                </a:solidFill>
                <a:latin typeface="Fira Code"/>
                <a:rFonts eastAsia="Fira Code" ascii="Fira Code" hAnsi="Fira Code"/>
              </a:rPr>
              <a:t> 10  </a:t>
            </a:r>
            <a:r>
              <a:rPr sz="1000" b="0" i="0">
                <a:solidFill>
                  <a:srgbClr val="374151"/>
                </a:solidFill>
                <a:latin typeface="Fira Code"/>
                <a:rFonts eastAsia="Fira Code" ascii="Fira Code" hAnsi="Fira Code"/>
              </a:rPr>
              <a:t>docker ps | grep maxkb</a:t>
            </a:r>
          </a:p>
          <a:p>
            <a:pPr algn="l"/>
            <a:r>
              <a:rPr sz="900" b="0" i="0">
                <a:solidFill>
                  <a:srgbClr val="6B7280"/>
                </a:solidFill>
                <a:latin typeface="Fira Code"/>
                <a:rFonts eastAsia="Fira Code" ascii="Fira Code" hAnsi="Fira Code"/>
              </a:rPr>
              <a:t> 11  </a:t>
            </a:r>
            <a:r>
              <a:rPr sz="1000" b="0" i="0">
                <a:solidFill>
                  <a:srgbClr val="374151"/>
                </a:solidFill>
                <a:latin typeface="Fira Code"/>
                <a:rFonts eastAsia="Fira Code" ascii="Fira Code" hAnsi="Fira Code"/>
              </a:rPr>
              <a:t/>
            </a:r>
          </a:p>
          <a:p>
            <a:pPr algn="l"/>
            <a:r>
              <a:rPr sz="900" b="0" i="0">
                <a:solidFill>
                  <a:srgbClr val="6B7280"/>
                </a:solidFill>
                <a:latin typeface="Fira Code"/>
                <a:rFonts eastAsia="Fira Code" ascii="Fira Code" hAnsi="Fira Code"/>
              </a:rPr>
              <a:t> 12  </a:t>
            </a:r>
            <a:r>
              <a:rPr sz="1000" b="0" i="0">
                <a:solidFill>
                  <a:srgbClr val="374151"/>
                </a:solidFill>
                <a:latin typeface="Fira Code"/>
                <a:rFonts eastAsia="Fira Code" ascii="Fira Code" hAnsi="Fira Code"/>
              </a:rPr>
              <a:t># 查看实时日志</a:t>
            </a:r>
          </a:p>
          <a:p>
            <a:pPr algn="l"/>
            <a:r>
              <a:rPr sz="900" b="0" i="0">
                <a:solidFill>
                  <a:srgbClr val="6B7280"/>
                </a:solidFill>
                <a:latin typeface="Fira Code"/>
                <a:rFonts eastAsia="Fira Code" ascii="Fira Code" hAnsi="Fira Code"/>
              </a:rPr>
              <a:t> 13  </a:t>
            </a:r>
            <a:r>
              <a:rPr sz="1000" b="0" i="0">
                <a:solidFill>
                  <a:srgbClr val="374151"/>
                </a:solidFill>
                <a:latin typeface="Fira Code"/>
                <a:rFonts eastAsia="Fira Code" ascii="Fira Code" hAnsi="Fira Code"/>
              </a:rPr>
              <a:t>docker logs -f maxkb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486400"/>
            <a:ext cx="5486400" cy="9144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5486400"/>
            <a:ext cx="73152" cy="9144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562356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8B5CF6"/>
                </a:solidFill>
                <a:latin typeface="微软雅黑"/>
                <a:rFonts eastAsia="微软雅黑" ascii="微软雅黑" hAnsi="微软雅黑"/>
              </a:rPr>
              <a:t>访问地址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03504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http://your_server_ip:8080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5486400"/>
            <a:ext cx="5486400" cy="9144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5486400"/>
            <a:ext cx="73152" cy="9144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562356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  <a:latin typeface="微软雅黑"/>
                <a:rFonts eastAsia="微软雅黑" ascii="微软雅黑" hAnsi="微软雅黑"/>
              </a:rPr>
              <a:t>默认账号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603504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admin / MaxKB@123..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企业级智能体平台 · MaxKB 教学课件  ·  小陶老师  · 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22 / 60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2194560" cy="25603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  <a:rFonts eastAsia="微软雅黑" ascii="微软雅黑" hAnsi="微软雅黑"/>
              </a:rPr>
              <a:t>PART 2 · 实操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5B2EBF"/>
                </a:solidFill>
                <a:latin typeface="微软雅黑"/>
                <a:rFonts eastAsia="微软雅黑" ascii="微软雅黑" hAnsi="微软雅黑"/>
              </a:rPr>
              <a:t>2.2 Step 2 · 接入大模型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5486400" cy="41148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73152" cy="41148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14884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8B5CF6"/>
                </a:solidFill>
                <a:latin typeface="微软雅黑"/>
                <a:rFonts eastAsia="微软雅黑" ascii="微软雅黑" hAnsi="微软雅黑"/>
              </a:rPr>
              <a:t>📋 操作路径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1. 进入「系统设置」→「模型管理」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85292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2. 点击「添加模型」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145536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3. 选择模型类型（DeepSeek / OpenAI 等）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438144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4. 填入 API Key 和 base_url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73075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5. 填入默认模型名（deepseek-chat）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02336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6. 点击「测试」验证连通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31596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7. 保存模型配置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011680"/>
            <a:ext cx="5486400" cy="41148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2011680"/>
            <a:ext cx="73152" cy="41148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214884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  <a:latin typeface="微软雅黑"/>
                <a:rFonts eastAsia="微软雅黑" ascii="微软雅黑" hAnsi="微软雅黑"/>
              </a:rPr>
              <a:t>🔑 API Key 来源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56032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DeepSeek：platform.deepseek.com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85292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通义千问：dashscope.aliyun.com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145536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OpenAI：platform.openai.com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438144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智谱 AI：open.bigmodel.cn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73075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Kimi：platform.moonshot.cn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02336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硅基流动：siliconflow.cn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431596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腾讯混元：hunyuan.tencent.com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企业级智能体平台 · MaxKB 教学课件  ·  小陶老师  · 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23 / 60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2194560" cy="25603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  <a:rFonts eastAsia="微软雅黑" ascii="微软雅黑" hAnsi="微软雅黑"/>
              </a:rPr>
              <a:t>PART 2 · 实操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5B2EBF"/>
                </a:solidFill>
                <a:latin typeface="微软雅黑"/>
                <a:rFonts eastAsia="微软雅黑" ascii="微软雅黑" hAnsi="微软雅黑"/>
              </a:rPr>
              <a:t>2.3 Step 3 · 创建知识库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知识库 = MaxKB 的核心数据资产，每个应用可关联多个知识库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926080"/>
            <a:ext cx="3657600" cy="3200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926080"/>
            <a:ext cx="3657600" cy="3200400"/>
          </a:xfrm>
          <a:prstGeom prst="rect">
            <a:avLst/>
          </a:prstGeom>
          <a:noFill/>
          <a:ln w="254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200400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00" b="1" i="0">
                <a:solidFill>
                  <a:srgbClr val="8B5CF6"/>
                </a:solidFill>
                <a:latin typeface="微软雅黑"/>
                <a:rFonts eastAsia="微软雅黑" ascii="微软雅黑" hAnsi="微软雅黑"/>
              </a:rPr>
              <a:t>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84048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5B2EBF"/>
                </a:solidFill>
                <a:latin typeface="微软雅黑"/>
                <a:rFonts eastAsia="微软雅黑" ascii="微软雅黑" hAnsi="微软雅黑"/>
              </a:rPr>
              <a:t>基础信息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31089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2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名称：hr_kb（建议英文+业务域）</a:t>
            </a:r>
          </a:p>
          <a:p>
            <a:pPr algn="ctr">
              <a:lnSpc>
                <a:spcPct val="150000"/>
              </a:lnSpc>
            </a:pPr>
            <a:r>
              <a:rPr sz="12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类型：通用 / 行业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2926080"/>
            <a:ext cx="3657600" cy="3200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2926080"/>
            <a:ext cx="3657600" cy="3200400"/>
          </a:xfrm>
          <a:prstGeom prst="rect">
            <a:avLst/>
          </a:prstGeom>
          <a:noFill/>
          <a:ln w="254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3200400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00" b="1" i="0">
                <a:solidFill>
                  <a:srgbClr val="8B5CF6"/>
                </a:solidFill>
                <a:latin typeface="微软雅黑"/>
                <a:rFonts eastAsia="微软雅黑" ascii="微软雅黑" hAnsi="微软雅黑"/>
              </a:rPr>
              <a:t>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384048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5B2EBF"/>
                </a:solidFill>
                <a:latin typeface="微软雅黑"/>
                <a:rFonts eastAsia="微软雅黑" ascii="微软雅黑" hAnsi="微软雅黑"/>
              </a:rPr>
              <a:t>检索配置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4480560"/>
            <a:ext cx="31089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2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拆分长度：500-1000 字</a:t>
            </a:r>
          </a:p>
          <a:p>
            <a:pPr algn="ctr">
              <a:lnSpc>
                <a:spcPct val="150000"/>
              </a:lnSpc>
            </a:pPr>
            <a:r>
              <a:rPr sz="12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向量模型：bge-large-zh / ada-002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2926080"/>
            <a:ext cx="3657600" cy="3200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2926080"/>
            <a:ext cx="3657600" cy="3200400"/>
          </a:xfrm>
          <a:prstGeom prst="rect">
            <a:avLst/>
          </a:prstGeom>
          <a:noFill/>
          <a:ln w="254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0" y="3200400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00" b="1" i="0">
                <a:solidFill>
                  <a:srgbClr val="8B5CF6"/>
                </a:solidFill>
                <a:latin typeface="微软雅黑"/>
                <a:rFonts eastAsia="微软雅黑" ascii="微软雅黑" hAnsi="微软雅黑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384048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5B2EBF"/>
                </a:solidFill>
                <a:latin typeface="微软雅黑"/>
                <a:rFonts eastAsia="微软雅黑" ascii="微软雅黑" hAnsi="微软雅黑"/>
              </a:rPr>
              <a:t>生成配置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4480560"/>
            <a:ext cx="31089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2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提示词模板：自定义</a:t>
            </a:r>
          </a:p>
          <a:p>
            <a:pPr algn="ctr">
              <a:lnSpc>
                <a:spcPct val="150000"/>
              </a:lnSpc>
            </a:pPr>
            <a:r>
              <a:rPr sz="12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Top-K：3-5 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1">
                <a:solidFill>
                  <a:srgbClr val="8B5CF6"/>
                </a:solidFill>
                <a:latin typeface="微软雅黑"/>
                <a:rFonts eastAsia="微软雅黑" ascii="微软雅黑" hAnsi="微软雅黑"/>
              </a:rPr>
              <a:t>⚡ 验证：知识库列表显示新条目，状态为「就绪」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企业级智能体平台 · MaxKB 教学课件  ·  小陶老师  · 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24 / 60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2194560" cy="25603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  <a:rFonts eastAsia="微软雅黑" ascii="微软雅黑" hAnsi="微软雅黑"/>
              </a:rPr>
              <a:t>PART 2 · 实操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5B2EBF"/>
                </a:solidFill>
                <a:latin typeface="微软雅黑"/>
                <a:rFonts eastAsia="微软雅黑" ascii="微软雅黑" hAnsi="微软雅黑"/>
              </a:rPr>
              <a:t>2.4 Step 4 · 上传文档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5486400" cy="32004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73152" cy="32004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14884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8B5CF6"/>
                </a:solidFill>
                <a:latin typeface="微软雅黑"/>
                <a:rFonts eastAsia="微软雅黑" ascii="微软雅黑" hAnsi="微软雅黑"/>
              </a:rPr>
              <a:t>📁 支持的文件格式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PDF（推荐，文本提取准确）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85292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Word（.doc / .docx）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145536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Markdown（.md）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438144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TXT · CSV · Excel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73075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图片 / 扫描件（OCR 识别）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011680"/>
            <a:ext cx="5486400" cy="32004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2011680"/>
            <a:ext cx="73152" cy="32004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14884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  <a:latin typeface="微软雅黑"/>
                <a:rFonts eastAsia="微软雅黑" ascii="微软雅黑" hAnsi="微软雅黑"/>
              </a:rPr>
              <a:t>⚙️ 自动处理流程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56032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① 文本提取（PDF 解析 / OCR）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85292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② 智能拆分（500-1000 字 / 段）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145536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③ Embedding 计算（向量化）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438144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④ 入库 PostgreSQL + pgvector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73075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⑤ 状态：解析中 → 已索引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4864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1">
                <a:solidFill>
                  <a:srgbClr val="8B5CF6"/>
                </a:solidFill>
                <a:latin typeface="微软雅黑"/>
                <a:rFonts eastAsia="微软雅黑" ascii="微软雅黑" hAnsi="微软雅黑"/>
              </a:rPr>
              <a:t>💡 实战建议：1 份文档不超过 100 页，单知识库总文档数控制在 1000 份以内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企业级智能体平台 · MaxKB 教学课件  ·  小陶老师  · 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25 / 60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2194560" cy="25603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  <a:rFonts eastAsia="微软雅黑" ascii="微软雅黑" hAnsi="微软雅黑"/>
              </a:rPr>
              <a:t>PART 2 · 实操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5B2EBF"/>
                </a:solidFill>
                <a:latin typeface="微软雅黑"/>
                <a:rFonts eastAsia="微软雅黑" ascii="微软雅黑" hAnsi="微软雅黑"/>
              </a:rPr>
              <a:t>2.5 Step 5 · 应用调试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5486400" cy="22860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73152" cy="22860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14884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8B5CF6"/>
                </a:solidFill>
                <a:latin typeface="微软雅黑"/>
                <a:rFonts eastAsia="微软雅黑" ascii="微软雅黑" hAnsi="微软雅黑"/>
              </a:rPr>
              <a:t>🎯 应用类型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① 简单应用：单轮问答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85292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② 工作流应用：多节点编排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145536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③ 场景应用：复杂业务流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389120"/>
            <a:ext cx="5486400" cy="22860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4389120"/>
            <a:ext cx="73152" cy="22860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52628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  <a:latin typeface="微软雅黑"/>
                <a:rFonts eastAsia="微软雅黑" ascii="微软雅黑" hAnsi="微软雅黑"/>
              </a:rPr>
              <a:t>✏️ 应用配置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93776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开场白：欢迎语（用于引导）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23036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问题建议：3-5 条样例问题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522976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提示词模板：自定义 LLM 行为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815584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关联知识库：可多选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011680"/>
            <a:ext cx="5486400" cy="45720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2011680"/>
            <a:ext cx="73152" cy="45720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214884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34D399"/>
                </a:solidFill>
                <a:latin typeface="微软雅黑"/>
                <a:rFonts eastAsia="微软雅黑" ascii="微软雅黑" hAnsi="微软雅黑"/>
              </a:rPr>
              <a:t>🧪 调试技巧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56032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✅ 用真实问题测试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85292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✅ 检查「参考文档」是否带来源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3145536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✅ 验证 top_k 和拆分粒度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3438144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✅ 对比不同模型的回答质量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73075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✅ 调优提示词模板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402336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✅ 在「问答日志」中查看历史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431596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✅ 把测试通过的提示词沉淀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企业级智能体平台 · MaxKB 教学课件  ·  小陶老师  · 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26 / 60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2194560" cy="25603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  <a:rFonts eastAsia="微软雅黑" ascii="微软雅黑" hAnsi="微软雅黑"/>
              </a:rPr>
              <a:t>PART 2 · 实操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5B2EBF"/>
                </a:solidFill>
                <a:latin typeface="微软雅黑"/>
                <a:rFonts eastAsia="微软雅黑" ascii="微软雅黑" hAnsi="微软雅黑"/>
              </a:rPr>
              <a:t>2.6 Step 6 · 发布与嵌入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286000"/>
            <a:ext cx="365760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3657600" cy="1828800"/>
          </a:xfrm>
          <a:prstGeom prst="rect">
            <a:avLst/>
          </a:prstGeom>
          <a:noFill/>
          <a:ln w="254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8B5CF6"/>
                </a:solidFill>
                <a:latin typeface="微软雅黑"/>
                <a:rFonts eastAsia="微软雅黑" ascii="微软雅黑" hAnsi="微软雅黑"/>
              </a:rPr>
              <a:t>🔗 iframe 嵌入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00400"/>
            <a:ext cx="3291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HTML 一行代码嵌入第三方网页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2286000"/>
            <a:ext cx="365760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2286000"/>
            <a:ext cx="3657600" cy="1828800"/>
          </a:xfrm>
          <a:prstGeom prst="rect">
            <a:avLst/>
          </a:prstGeom>
          <a:noFill/>
          <a:ln w="254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265176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3B82F6"/>
                </a:solidFill>
                <a:latin typeface="微软雅黑"/>
                <a:rFonts eastAsia="微软雅黑" ascii="微软雅黑" hAnsi="微软雅黑"/>
              </a:rPr>
              <a:t>📦 JS SDK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3200400"/>
            <a:ext cx="3291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通过 JavaScript SDK 集成调用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2286000"/>
            <a:ext cx="365760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2286000"/>
            <a:ext cx="3657600" cy="1828800"/>
          </a:xfrm>
          <a:prstGeom prst="rect">
            <a:avLst/>
          </a:prstGeom>
          <a:noFill/>
          <a:ln w="254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265176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34D399"/>
                </a:solidFill>
                <a:latin typeface="微软雅黑"/>
                <a:rFonts eastAsia="微软雅黑" ascii="微软雅黑" hAnsi="微软雅黑"/>
              </a:rPr>
              <a:t>🌐 API 调用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200400"/>
            <a:ext cx="3291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REST API 接入自有业务系统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389120"/>
            <a:ext cx="11247120" cy="18288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389120"/>
            <a:ext cx="11247120" cy="25603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425696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微软雅黑"/>
                <a:rFonts eastAsia="微软雅黑" ascii="微软雅黑" hAnsi="微软雅黑"/>
              </a:rPr>
              <a:t>▶ HTML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709160"/>
            <a:ext cx="10972800" cy="141732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Fira Code"/>
                <a:rFonts eastAsia="Fira Code" ascii="Fira Code" hAnsi="Fira Code"/>
              </a:rPr>
              <a:t>  1  </a:t>
            </a:r>
            <a:r>
              <a:rPr sz="1000" b="0" i="0">
                <a:solidFill>
                  <a:srgbClr val="374151"/>
                </a:solidFill>
                <a:latin typeface="Fira Code"/>
                <a:rFonts eastAsia="Fira Code" ascii="Fira Code" hAnsi="Fira Code"/>
              </a:rPr>
              <a:t>&lt;!-- iframe 嵌入示例 --&gt;</a:t>
            </a:r>
          </a:p>
          <a:p>
            <a:pPr algn="l"/>
            <a:r>
              <a:rPr sz="900" b="0" i="0">
                <a:solidFill>
                  <a:srgbClr val="6B7280"/>
                </a:solidFill>
                <a:latin typeface="Fira Code"/>
                <a:rFonts eastAsia="Fira Code" ascii="Fira Code" hAnsi="Fira Code"/>
              </a:rPr>
              <a:t>  2  </a:t>
            </a:r>
            <a:r>
              <a:rPr sz="1000" b="0" i="0">
                <a:solidFill>
                  <a:srgbClr val="374151"/>
                </a:solidFill>
                <a:latin typeface="Fira Code"/>
                <a:rFonts eastAsia="Fira Code" ascii="Fira Code" hAnsi="Fira Code"/>
              </a:rPr>
              <a:t>&lt;iframe</a:t>
            </a:r>
          </a:p>
          <a:p>
            <a:pPr algn="l"/>
            <a:r>
              <a:rPr sz="900" b="0" i="0">
                <a:solidFill>
                  <a:srgbClr val="6B7280"/>
                </a:solidFill>
                <a:latin typeface="Fira Code"/>
                <a:rFonts eastAsia="Fira Code" ascii="Fira Code" hAnsi="Fira Code"/>
              </a:rPr>
              <a:t>  3  </a:t>
            </a:r>
            <a:r>
              <a:rPr sz="1000" b="0" i="0">
                <a:solidFill>
                  <a:srgbClr val="374151"/>
                </a:solidFill>
                <a:latin typeface="Fira Code"/>
                <a:rFonts eastAsia="Fira Code" ascii="Fira Code" hAnsi="Fira Code"/>
              </a:rPr>
              <a:t>  src="https://your-domain.com:8080/chat/embed?app_id=xxx"</a:t>
            </a:r>
          </a:p>
          <a:p>
            <a:pPr algn="l"/>
            <a:r>
              <a:rPr sz="900" b="0" i="0">
                <a:solidFill>
                  <a:srgbClr val="6B7280"/>
                </a:solidFill>
                <a:latin typeface="Fira Code"/>
                <a:rFonts eastAsia="Fira Code" ascii="Fira Code" hAnsi="Fira Code"/>
              </a:rPr>
              <a:t>  4  </a:t>
            </a:r>
            <a:r>
              <a:rPr sz="1000" b="0" i="0">
                <a:solidFill>
                  <a:srgbClr val="374151"/>
                </a:solidFill>
                <a:latin typeface="Fira Code"/>
                <a:rFonts eastAsia="Fira Code" ascii="Fira Code" hAnsi="Fira Code"/>
              </a:rPr>
              <a:t>  width="400" height="600"</a:t>
            </a:r>
          </a:p>
          <a:p>
            <a:pPr algn="l"/>
            <a:r>
              <a:rPr sz="900" b="0" i="0">
                <a:solidFill>
                  <a:srgbClr val="6B7280"/>
                </a:solidFill>
                <a:latin typeface="Fira Code"/>
                <a:rFonts eastAsia="Fira Code" ascii="Fira Code" hAnsi="Fira Code"/>
              </a:rPr>
              <a:t>  5  </a:t>
            </a:r>
            <a:r>
              <a:rPr sz="1000" b="0" i="0">
                <a:solidFill>
                  <a:srgbClr val="374151"/>
                </a:solidFill>
                <a:latin typeface="Fira Code"/>
                <a:rFonts eastAsia="Fira Code" ascii="Fira Code" hAnsi="Fira Code"/>
              </a:rPr>
              <a:t>  style="border:none;border-radius:8px"&gt;</a:t>
            </a:r>
          </a:p>
          <a:p>
            <a:pPr algn="l"/>
            <a:r>
              <a:rPr sz="900" b="0" i="0">
                <a:solidFill>
                  <a:srgbClr val="6B7280"/>
                </a:solidFill>
                <a:latin typeface="Fira Code"/>
                <a:rFonts eastAsia="Fira Code" ascii="Fira Code" hAnsi="Fira Code"/>
              </a:rPr>
              <a:t>  6  </a:t>
            </a:r>
            <a:r>
              <a:rPr sz="1000" b="0" i="0">
                <a:solidFill>
                  <a:srgbClr val="374151"/>
                </a:solidFill>
                <a:latin typeface="Fira Code"/>
                <a:rFonts eastAsia="Fira Code" ascii="Fira Code" hAnsi="Fira Code"/>
              </a:rPr>
              <a:t>&lt;/iframe&gt;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企业级智能体平台 · MaxKB 教学课件  ·  小陶老师  · 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27 / 60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2194560" cy="25603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  <a:rFonts eastAsia="微软雅黑" ascii="微软雅黑" hAnsi="微软雅黑"/>
              </a:rPr>
              <a:t>PART 2 · 实操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5B2EBF"/>
                </a:solidFill>
                <a:latin typeface="微软雅黑"/>
                <a:rFonts eastAsia="微软雅黑" ascii="微软雅黑" hAnsi="微软雅黑"/>
              </a:rPr>
              <a:t>2.7 6 步闭环可视化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2560320"/>
            <a:ext cx="1645920" cy="164592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微软雅黑"/>
                <a:rFonts eastAsia="微软雅黑" ascii="微软雅黑" hAnsi="微软雅黑"/>
              </a:rPr>
              <a:t>部署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48840" y="3108960"/>
            <a:ext cx="27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8B5CF6"/>
                </a:solidFill>
                <a:latin typeface="微软雅黑"/>
                <a:rFonts eastAsia="微软雅黑" ascii="微软雅黑" hAnsi="微软雅黑"/>
              </a:rPr>
              <a:t>→</a:t>
            </a:r>
          </a:p>
        </p:txBody>
      </p:sp>
      <p:sp>
        <p:nvSpPr>
          <p:cNvPr id="7" name="Oval 6"/>
          <p:cNvSpPr/>
          <p:nvPr/>
        </p:nvSpPr>
        <p:spPr>
          <a:xfrm>
            <a:off x="2377440" y="2560320"/>
            <a:ext cx="1645920" cy="16459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微软雅黑"/>
                <a:rFonts eastAsia="微软雅黑" ascii="微软雅黑" hAnsi="微软雅黑"/>
              </a:rPr>
              <a:t>配置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3108960"/>
            <a:ext cx="27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8B5CF6"/>
                </a:solidFill>
                <a:latin typeface="微软雅黑"/>
                <a:rFonts eastAsia="微软雅黑" ascii="微软雅黑" hAnsi="微软雅黑"/>
              </a:rPr>
              <a:t>→</a:t>
            </a:r>
          </a:p>
        </p:txBody>
      </p:sp>
      <p:sp>
        <p:nvSpPr>
          <p:cNvPr id="9" name="Oval 8"/>
          <p:cNvSpPr/>
          <p:nvPr/>
        </p:nvSpPr>
        <p:spPr>
          <a:xfrm>
            <a:off x="4297680" y="2560320"/>
            <a:ext cx="1645920" cy="1645920"/>
          </a:xfrm>
          <a:prstGeom prst="ellipse">
            <a:avLst/>
          </a:prstGeom>
          <a:solidFill>
            <a:srgbClr val="5B2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微软雅黑"/>
                <a:rFonts eastAsia="微软雅黑" ascii="微软雅黑" hAnsi="微软雅黑"/>
              </a:rPr>
              <a:t>数据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3108960"/>
            <a:ext cx="27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8B5CF6"/>
                </a:solidFill>
                <a:latin typeface="微软雅黑"/>
                <a:rFonts eastAsia="微软雅黑" ascii="微软雅黑" hAnsi="微软雅黑"/>
              </a:rPr>
              <a:t>→</a:t>
            </a:r>
          </a:p>
        </p:txBody>
      </p:sp>
      <p:sp>
        <p:nvSpPr>
          <p:cNvPr id="11" name="Oval 10"/>
          <p:cNvSpPr/>
          <p:nvPr/>
        </p:nvSpPr>
        <p:spPr>
          <a:xfrm>
            <a:off x="6217920" y="2560320"/>
            <a:ext cx="1645920" cy="164592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微软雅黑"/>
                <a:rFonts eastAsia="微软雅黑" ascii="微软雅黑" hAnsi="微软雅黑"/>
              </a:rPr>
              <a:t>构建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9560" y="3108960"/>
            <a:ext cx="27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8B5CF6"/>
                </a:solidFill>
                <a:latin typeface="微软雅黑"/>
                <a:rFonts eastAsia="微软雅黑" ascii="微软雅黑" hAnsi="微软雅黑"/>
              </a:rPr>
              <a:t>→</a:t>
            </a:r>
          </a:p>
        </p:txBody>
      </p:sp>
      <p:sp>
        <p:nvSpPr>
          <p:cNvPr id="13" name="Oval 12"/>
          <p:cNvSpPr/>
          <p:nvPr/>
        </p:nvSpPr>
        <p:spPr>
          <a:xfrm>
            <a:off x="8138160" y="2560320"/>
            <a:ext cx="1645920" cy="164592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微软雅黑"/>
                <a:rFonts eastAsia="微软雅黑" ascii="微软雅黑" hAnsi="微软雅黑"/>
              </a:rPr>
              <a:t>调试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29800" y="3108960"/>
            <a:ext cx="27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8B5CF6"/>
                </a:solidFill>
                <a:latin typeface="微软雅黑"/>
                <a:rFonts eastAsia="微软雅黑" ascii="微软雅黑" hAnsi="微软雅黑"/>
              </a:rPr>
              <a:t>→</a:t>
            </a:r>
          </a:p>
        </p:txBody>
      </p:sp>
      <p:sp>
        <p:nvSpPr>
          <p:cNvPr id="15" name="Oval 14"/>
          <p:cNvSpPr/>
          <p:nvPr/>
        </p:nvSpPr>
        <p:spPr>
          <a:xfrm>
            <a:off x="10058400" y="2560320"/>
            <a:ext cx="1645920" cy="1645920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微软雅黑"/>
                <a:rFonts eastAsia="微软雅黑" ascii="微软雅黑" hAnsi="微软雅黑"/>
              </a:rPr>
              <a:t>发布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1">
                <a:solidFill>
                  <a:srgbClr val="5B2EBF"/>
                </a:solidFill>
                <a:latin typeface="微软雅黑"/>
                <a:rFonts eastAsia="微软雅黑" ascii="微软雅黑" hAnsi="微软雅黑"/>
              </a:rPr>
              <a:t>⚡ 整个 6 步可在 30 分钟内完成 · 让学生在实验课现场感受完整链路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企业级智能体平台 · MaxKB 教学课件  ·  小陶老师  · 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28 / 60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2194560" cy="25603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  <a:rFonts eastAsia="微软雅黑" ascii="微软雅黑" hAnsi="微软雅黑"/>
              </a:rPr>
              <a:t>PART 2 · 实操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5B2EBF"/>
                </a:solidFill>
                <a:latin typeface="微软雅黑"/>
                <a:rFonts eastAsia="微软雅黑" ascii="微软雅黑" hAnsi="微软雅黑"/>
              </a:rPr>
              <a:t>2.8 工作流节点 · 6 大类型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5486400" cy="45720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73152" cy="45720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14884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8B5CF6"/>
                </a:solidFill>
                <a:latin typeface="微软雅黑"/>
                <a:rFonts eastAsia="微软雅黑" ascii="微软雅黑" hAnsi="微软雅黑"/>
              </a:rPr>
              <a:t>🎛️ 节点类型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📌 基础节点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85292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  · 开始 / 结束 / 变量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145536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📌 逻辑节点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438144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  · 条件分支 / 循环 / 合并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73075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📌 AI 节点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02336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  · LLM 对话 / Embedding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31596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📌 工具节点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608576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  · 知识库检索 / HTTP / 数据库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901184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📌 高级节点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19379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  · 自定义代码 / MCP 工具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011680"/>
            <a:ext cx="5486400" cy="45720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2011680"/>
            <a:ext cx="73152" cy="45720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214884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  <a:latin typeface="微软雅黑"/>
                <a:rFonts eastAsia="微软雅黑" ascii="微软雅黑" hAnsi="微软雅黑"/>
              </a:rPr>
              <a:t>🚀 设计模式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56032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🔹 顺序模式：单链执行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85292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🔹 并行模式：多条分支同时跑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3145536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🔹 条件模式：if-else 分支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3438144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🔹 循环模式：迭代至满足条件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73075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🔹 Agent 模式：LLM 决策下一步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402336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🔹 异常模式：try-catch 容错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431596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  每个工作流可包含上百个节点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企业级智能体平台 · MaxKB 教学课件  ·  小陶老师  · 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29 / 60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2194560" cy="25603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  <a:rFonts eastAsia="微软雅黑" ascii="微软雅黑" hAnsi="微软雅黑"/>
              </a:rPr>
              <a:t>PART 2 · 实操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5B2EBF"/>
                </a:solidFill>
                <a:latin typeface="微软雅黑"/>
                <a:rFonts eastAsia="微软雅黑" ascii="微软雅黑" hAnsi="微软雅黑"/>
              </a:rPr>
              <a:t>2.9 自定义代码节点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11247120" cy="41148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11247120" cy="25603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048256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微软雅黑"/>
                <a:rFonts eastAsia="微软雅黑" ascii="微软雅黑" hAnsi="微软雅黑"/>
              </a:rPr>
              <a:t>▶ 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31720"/>
            <a:ext cx="10972800" cy="370332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Fira Code"/>
                <a:rFonts eastAsia="Fira Code" ascii="Fira Code" hAnsi="Fira Code"/>
              </a:rPr>
              <a:t>  1  </a:t>
            </a:r>
            <a:r>
              <a:rPr sz="1000" b="0" i="0">
                <a:solidFill>
                  <a:srgbClr val="374151"/>
                </a:solidFill>
                <a:latin typeface="Fira Code"/>
                <a:rFonts eastAsia="Fira Code" ascii="Fira Code" hAnsi="Fira Code"/>
              </a:rPr>
              <a:t># === 工作流自定义函数节点 ===</a:t>
            </a:r>
          </a:p>
          <a:p>
            <a:pPr algn="l"/>
            <a:r>
              <a:rPr sz="900" b="0" i="0">
                <a:solidFill>
                  <a:srgbClr val="6B7280"/>
                </a:solidFill>
                <a:latin typeface="Fira Code"/>
                <a:rFonts eastAsia="Fira Code" ascii="Fira Code" hAnsi="Fira Code"/>
              </a:rPr>
              <a:t>  2  </a:t>
            </a:r>
            <a:r>
              <a:rPr sz="1000" b="0" i="0">
                <a:solidFill>
                  <a:srgbClr val="374151"/>
                </a:solidFill>
                <a:latin typeface="Fira Code"/>
                <a:rFonts eastAsia="Fira Code" ascii="Fira Code" hAnsi="Fira Code"/>
              </a:rPr>
              <a:t>def process_function(inputs: dict) -&gt; dict:</a:t>
            </a:r>
          </a:p>
          <a:p>
            <a:pPr algn="l"/>
            <a:r>
              <a:rPr sz="900" b="0" i="0">
                <a:solidFill>
                  <a:srgbClr val="6B7280"/>
                </a:solidFill>
                <a:latin typeface="Fira Code"/>
                <a:rFonts eastAsia="Fira Code" ascii="Fira Code" hAnsi="Fira Code"/>
              </a:rPr>
              <a:t>  3  </a:t>
            </a:r>
            <a:r>
              <a:rPr sz="1000" b="0" i="0">
                <a:solidFill>
                  <a:srgbClr val="374151"/>
                </a:solidFill>
                <a:latin typeface="Fira Code"/>
                <a:rFonts eastAsia="Fira Code" ascii="Fira Code" hAnsi="Fira Code"/>
              </a:rPr>
              <a:t>    """提取关键词、问题分类"""</a:t>
            </a:r>
          </a:p>
          <a:p>
            <a:pPr algn="l"/>
            <a:r>
              <a:rPr sz="900" b="0" i="0">
                <a:solidFill>
                  <a:srgbClr val="6B7280"/>
                </a:solidFill>
                <a:latin typeface="Fira Code"/>
                <a:rFonts eastAsia="Fira Code" ascii="Fira Code" hAnsi="Fira Code"/>
              </a:rPr>
              <a:t>  4  </a:t>
            </a:r>
            <a:r>
              <a:rPr sz="1000" b="0" i="0">
                <a:solidFill>
                  <a:srgbClr val="374151"/>
                </a:solidFill>
                <a:latin typeface="Fira Code"/>
                <a:rFonts eastAsia="Fira Code" ascii="Fira Code" hAnsi="Fira Code"/>
              </a:rPr>
              <a:t>    question = inputs.get("question", "")</a:t>
            </a:r>
          </a:p>
          <a:p>
            <a:pPr algn="l"/>
            <a:r>
              <a:rPr sz="900" b="0" i="0">
                <a:solidFill>
                  <a:srgbClr val="6B7280"/>
                </a:solidFill>
                <a:latin typeface="Fira Code"/>
                <a:rFonts eastAsia="Fira Code" ascii="Fira Code" hAnsi="Fira Code"/>
              </a:rPr>
              <a:t>  5  </a:t>
            </a:r>
            <a:r>
              <a:rPr sz="1000" b="0" i="0">
                <a:solidFill>
                  <a:srgbClr val="374151"/>
                </a:solidFill>
                <a:latin typeface="Fira Code"/>
                <a:rFonts eastAsia="Fira Code" ascii="Fira Code" hAnsi="Fira Code"/>
              </a:rPr>
              <a:t>    context = inputs.get("context", [])</a:t>
            </a:r>
          </a:p>
          <a:p>
            <a:pPr algn="l"/>
            <a:r>
              <a:rPr sz="900" b="0" i="0">
                <a:solidFill>
                  <a:srgbClr val="6B7280"/>
                </a:solidFill>
                <a:latin typeface="Fira Code"/>
                <a:rFonts eastAsia="Fira Code" ascii="Fira Code" hAnsi="Fira Code"/>
              </a:rPr>
              <a:t>  6  </a:t>
            </a:r>
            <a:r>
              <a:rPr sz="1000" b="0" i="0">
                <a:solidFill>
                  <a:srgbClr val="374151"/>
                </a:solidFill>
                <a:latin typeface="Fira Code"/>
                <a:rFonts eastAsia="Fira Code" ascii="Fira Code" hAnsi="Fira Code"/>
              </a:rPr>
              <a:t/>
            </a:r>
          </a:p>
          <a:p>
            <a:pPr algn="l"/>
            <a:r>
              <a:rPr sz="900" b="0" i="0">
                <a:solidFill>
                  <a:srgbClr val="6B7280"/>
                </a:solidFill>
                <a:latin typeface="Fira Code"/>
                <a:rFonts eastAsia="Fira Code" ascii="Fira Code" hAnsi="Fira Code"/>
              </a:rPr>
              <a:t>  7  </a:t>
            </a:r>
            <a:r>
              <a:rPr sz="1000" b="0" i="0">
                <a:solidFill>
                  <a:srgbClr val="374151"/>
                </a:solidFill>
                <a:latin typeface="Fira Code"/>
                <a:rFonts eastAsia="Fira Code" ascii="Fira Code" hAnsi="Fira Code"/>
              </a:rPr>
              <a:t>    # 1. 中文分词</a:t>
            </a:r>
          </a:p>
          <a:p>
            <a:pPr algn="l"/>
            <a:r>
              <a:rPr sz="900" b="0" i="0">
                <a:solidFill>
                  <a:srgbClr val="6B7280"/>
                </a:solidFill>
                <a:latin typeface="Fira Code"/>
                <a:rFonts eastAsia="Fira Code" ascii="Fira Code" hAnsi="Fira Code"/>
              </a:rPr>
              <a:t>  8  </a:t>
            </a:r>
            <a:r>
              <a:rPr sz="1000" b="0" i="0">
                <a:solidFill>
                  <a:srgbClr val="374151"/>
                </a:solidFill>
                <a:latin typeface="Fira Code"/>
                <a:rFonts eastAsia="Fira Code" ascii="Fira Code" hAnsi="Fira Code"/>
              </a:rPr>
              <a:t>    import jieba</a:t>
            </a:r>
          </a:p>
          <a:p>
            <a:pPr algn="l"/>
            <a:r>
              <a:rPr sz="900" b="0" i="0">
                <a:solidFill>
                  <a:srgbClr val="6B7280"/>
                </a:solidFill>
                <a:latin typeface="Fira Code"/>
                <a:rFonts eastAsia="Fira Code" ascii="Fira Code" hAnsi="Fira Code"/>
              </a:rPr>
              <a:t>  9  </a:t>
            </a:r>
            <a:r>
              <a:rPr sz="1000" b="0" i="0">
                <a:solidFill>
                  <a:srgbClr val="374151"/>
                </a:solidFill>
                <a:latin typeface="Fira Code"/>
                <a:rFonts eastAsia="Fira Code" ascii="Fira Code" hAnsi="Fira Code"/>
              </a:rPr>
              <a:t>    keywords = jieba.lcut(question)</a:t>
            </a:r>
          </a:p>
          <a:p>
            <a:pPr algn="l"/>
            <a:r>
              <a:rPr sz="900" b="0" i="0">
                <a:solidFill>
                  <a:srgbClr val="6B7280"/>
                </a:solidFill>
                <a:latin typeface="Fira Code"/>
                <a:rFonts eastAsia="Fira Code" ascii="Fira Code" hAnsi="Fira Code"/>
              </a:rPr>
              <a:t> 10  </a:t>
            </a:r>
            <a:r>
              <a:rPr sz="1000" b="0" i="0">
                <a:solidFill>
                  <a:srgbClr val="374151"/>
                </a:solidFill>
                <a:latin typeface="Fira Code"/>
                <a:rFonts eastAsia="Fira Code" ascii="Fira Code" hAnsi="Fira Code"/>
              </a:rPr>
              <a:t>    keywords = [k for k in keywords if len(k) &gt; 1][:10]</a:t>
            </a:r>
          </a:p>
          <a:p>
            <a:pPr algn="l"/>
            <a:r>
              <a:rPr sz="900" b="0" i="0">
                <a:solidFill>
                  <a:srgbClr val="6B7280"/>
                </a:solidFill>
                <a:latin typeface="Fira Code"/>
                <a:rFonts eastAsia="Fira Code" ascii="Fira Code" hAnsi="Fira Code"/>
              </a:rPr>
              <a:t> 11  </a:t>
            </a:r>
            <a:r>
              <a:rPr sz="1000" b="0" i="0">
                <a:solidFill>
                  <a:srgbClr val="374151"/>
                </a:solidFill>
                <a:latin typeface="Fira Code"/>
                <a:rFonts eastAsia="Fira Code" ascii="Fira Code" hAnsi="Fira Code"/>
              </a:rPr>
              <a:t/>
            </a:r>
          </a:p>
          <a:p>
            <a:pPr algn="l"/>
            <a:r>
              <a:rPr sz="900" b="0" i="0">
                <a:solidFill>
                  <a:srgbClr val="6B7280"/>
                </a:solidFill>
                <a:latin typeface="Fira Code"/>
                <a:rFonts eastAsia="Fira Code" ascii="Fira Code" hAnsi="Fira Code"/>
              </a:rPr>
              <a:t> 12  </a:t>
            </a:r>
            <a:r>
              <a:rPr sz="1000" b="0" i="0">
                <a:solidFill>
                  <a:srgbClr val="374151"/>
                </a:solidFill>
                <a:latin typeface="Fira Code"/>
                <a:rFonts eastAsia="Fira Code" ascii="Fira Code" hAnsi="Fira Code"/>
              </a:rPr>
              <a:t>    # 2. 简单分类</a:t>
            </a:r>
          </a:p>
          <a:p>
            <a:pPr algn="l"/>
            <a:r>
              <a:rPr sz="900" b="0" i="0">
                <a:solidFill>
                  <a:srgbClr val="6B7280"/>
                </a:solidFill>
                <a:latin typeface="Fira Code"/>
                <a:rFonts eastAsia="Fira Code" ascii="Fira Code" hAnsi="Fira Code"/>
              </a:rPr>
              <a:t> 13  </a:t>
            </a:r>
            <a:r>
              <a:rPr sz="1000" b="0" i="0">
                <a:solidFill>
                  <a:srgbClr val="374151"/>
                </a:solidFill>
                <a:latin typeface="Fira Code"/>
                <a:rFonts eastAsia="Fira Code" ascii="Fira Code" hAnsi="Fira Code"/>
              </a:rPr>
              <a:t>    if any(k in question for k in ["价格", "多少钱"]):</a:t>
            </a:r>
          </a:p>
          <a:p>
            <a:pPr algn="l"/>
            <a:r>
              <a:rPr sz="900" b="0" i="0">
                <a:solidFill>
                  <a:srgbClr val="6B7280"/>
                </a:solidFill>
                <a:latin typeface="Fira Code"/>
                <a:rFonts eastAsia="Fira Code" ascii="Fira Code" hAnsi="Fira Code"/>
              </a:rPr>
              <a:t> 14  </a:t>
            </a:r>
            <a:r>
              <a:rPr sz="1000" b="0" i="0">
                <a:solidFill>
                  <a:srgbClr val="374151"/>
                </a:solidFill>
                <a:latin typeface="Fira Code"/>
                <a:rFonts eastAsia="Fira Code" ascii="Fira Code" hAnsi="Fira Code"/>
              </a:rPr>
              <a:t>        category = "pricing"</a:t>
            </a:r>
          </a:p>
          <a:p>
            <a:pPr algn="l"/>
            <a:r>
              <a:rPr sz="900" b="0" i="0">
                <a:solidFill>
                  <a:srgbClr val="6B7280"/>
                </a:solidFill>
                <a:latin typeface="Fira Code"/>
                <a:rFonts eastAsia="Fira Code" ascii="Fira Code" hAnsi="Fira Code"/>
              </a:rPr>
              <a:t> 15  </a:t>
            </a:r>
            <a:r>
              <a:rPr sz="1000" b="0" i="0">
                <a:solidFill>
                  <a:srgbClr val="374151"/>
                </a:solidFill>
                <a:latin typeface="Fira Code"/>
                <a:rFonts eastAsia="Fira Code" ascii="Fira Code" hAnsi="Fira Code"/>
              </a:rPr>
              <a:t>    elif any(k in question for k in ["怎么", "如何"]):</a:t>
            </a:r>
          </a:p>
          <a:p>
            <a:pPr algn="l"/>
            <a:r>
              <a:rPr sz="900" b="0" i="0">
                <a:solidFill>
                  <a:srgbClr val="6B7280"/>
                </a:solidFill>
                <a:latin typeface="Fira Code"/>
                <a:rFonts eastAsia="Fira Code" ascii="Fira Code" hAnsi="Fira Code"/>
              </a:rPr>
              <a:t> 16  </a:t>
            </a:r>
            <a:r>
              <a:rPr sz="1000" b="0" i="0">
                <a:solidFill>
                  <a:srgbClr val="374151"/>
                </a:solidFill>
                <a:latin typeface="Fira Code"/>
                <a:rFonts eastAsia="Fira Code" ascii="Fira Code" hAnsi="Fira Code"/>
              </a:rPr>
              <a:t>        category = "howto"</a:t>
            </a:r>
          </a:p>
          <a:p>
            <a:pPr algn="l"/>
            <a:r>
              <a:rPr sz="900" b="0" i="0">
                <a:solidFill>
                  <a:srgbClr val="6B7280"/>
                </a:solidFill>
                <a:latin typeface="Fira Code"/>
                <a:rFonts eastAsia="Fira Code" ascii="Fira Code" hAnsi="Fira Code"/>
              </a:rPr>
              <a:t> 17  </a:t>
            </a:r>
            <a:r>
              <a:rPr sz="1000" b="0" i="0">
                <a:solidFill>
                  <a:srgbClr val="374151"/>
                </a:solidFill>
                <a:latin typeface="Fira Code"/>
                <a:rFonts eastAsia="Fira Code" ascii="Fira Code" hAnsi="Fira Code"/>
              </a:rPr>
              <a:t>    else:</a:t>
            </a:r>
          </a:p>
          <a:p>
            <a:pPr algn="l"/>
            <a:r>
              <a:rPr sz="900" b="0" i="0">
                <a:solidFill>
                  <a:srgbClr val="6B7280"/>
                </a:solidFill>
                <a:latin typeface="Fira Code"/>
                <a:rFonts eastAsia="Fira Code" ascii="Fira Code" hAnsi="Fira Code"/>
              </a:rPr>
              <a:t> 18  </a:t>
            </a:r>
            <a:r>
              <a:rPr sz="1000" b="0" i="0">
                <a:solidFill>
                  <a:srgbClr val="374151"/>
                </a:solidFill>
                <a:latin typeface="Fira Code"/>
                <a:rFonts eastAsia="Fira Code" ascii="Fira Code" hAnsi="Fira Code"/>
              </a:rPr>
              <a:t>        category = "general"</a:t>
            </a:r>
          </a:p>
          <a:p>
            <a:pPr algn="l"/>
            <a:r>
              <a:rPr sz="900" b="0" i="0">
                <a:solidFill>
                  <a:srgbClr val="6B7280"/>
                </a:solidFill>
                <a:latin typeface="Fira Code"/>
                <a:rFonts eastAsia="Fira Code" ascii="Fira Code" hAnsi="Fira Code"/>
              </a:rPr>
              <a:t> 19  </a:t>
            </a:r>
            <a:r>
              <a:rPr sz="1000" b="0" i="0">
                <a:solidFill>
                  <a:srgbClr val="374151"/>
                </a:solidFill>
                <a:latin typeface="Fira Code"/>
                <a:rFonts eastAsia="Fira Code" ascii="Fira Code" hAnsi="Fira Code"/>
              </a:rPr>
              <a:t/>
            </a:r>
          </a:p>
          <a:p>
            <a:pPr algn="l"/>
            <a:r>
              <a:rPr sz="900" b="0" i="0">
                <a:solidFill>
                  <a:srgbClr val="6B7280"/>
                </a:solidFill>
                <a:latin typeface="Fira Code"/>
                <a:rFonts eastAsia="Fira Code" ascii="Fira Code" hAnsi="Fira Code"/>
              </a:rPr>
              <a:t> 20  </a:t>
            </a:r>
            <a:r>
              <a:rPr sz="1000" b="0" i="0">
                <a:solidFill>
                  <a:srgbClr val="374151"/>
                </a:solidFill>
                <a:latin typeface="Fira Code"/>
                <a:rFonts eastAsia="Fira Code" ascii="Fira Code" hAnsi="Fira Code"/>
              </a:rPr>
              <a:t>    return {</a:t>
            </a:r>
          </a:p>
          <a:p>
            <a:pPr algn="l"/>
            <a:r>
              <a:rPr sz="900" b="0" i="0">
                <a:solidFill>
                  <a:srgbClr val="6B7280"/>
                </a:solidFill>
                <a:latin typeface="Fira Code"/>
                <a:rFonts eastAsia="Fira Code" ascii="Fira Code" hAnsi="Fira Code"/>
              </a:rPr>
              <a:t> 21  </a:t>
            </a:r>
            <a:r>
              <a:rPr sz="1000" b="0" i="0">
                <a:solidFill>
                  <a:srgbClr val="374151"/>
                </a:solidFill>
                <a:latin typeface="Fira Code"/>
                <a:rFonts eastAsia="Fira Code" ascii="Fira Code" hAnsi="Fira Code"/>
              </a:rPr>
              <a:t>        "question": question,</a:t>
            </a:r>
          </a:p>
          <a:p>
            <a:pPr algn="l"/>
            <a:r>
              <a:rPr sz="900" b="0" i="0">
                <a:solidFill>
                  <a:srgbClr val="6B7280"/>
                </a:solidFill>
                <a:latin typeface="Fira Code"/>
                <a:rFonts eastAsia="Fira Code" ascii="Fira Code" hAnsi="Fira Code"/>
              </a:rPr>
              <a:t> 22  </a:t>
            </a:r>
            <a:r>
              <a:rPr sz="1000" b="0" i="0">
                <a:solidFill>
                  <a:srgbClr val="374151"/>
                </a:solidFill>
                <a:latin typeface="Fira Code"/>
                <a:rFonts eastAsia="Fira Code" ascii="Fira Code" hAnsi="Fira Code"/>
              </a:rPr>
              <a:t>        "keywords": keywords,</a:t>
            </a:r>
          </a:p>
          <a:p>
            <a:pPr algn="l"/>
            <a:r>
              <a:rPr sz="900" b="0" i="0">
                <a:solidFill>
                  <a:srgbClr val="6B7280"/>
                </a:solidFill>
                <a:latin typeface="Fira Code"/>
                <a:rFonts eastAsia="Fira Code" ascii="Fira Code" hAnsi="Fira Code"/>
              </a:rPr>
              <a:t> 23  </a:t>
            </a:r>
            <a:r>
              <a:rPr sz="1000" b="0" i="0">
                <a:solidFill>
                  <a:srgbClr val="374151"/>
                </a:solidFill>
                <a:latin typeface="Fira Code"/>
                <a:rFonts eastAsia="Fira Code" ascii="Fira Code" hAnsi="Fira Code"/>
              </a:rPr>
              <a:t>        "category": category,</a:t>
            </a:r>
          </a:p>
          <a:p>
            <a:pPr algn="l"/>
            <a:r>
              <a:rPr sz="900" b="0" i="0">
                <a:solidFill>
                  <a:srgbClr val="6B7280"/>
                </a:solidFill>
                <a:latin typeface="Fira Code"/>
                <a:rFonts eastAsia="Fira Code" ascii="Fira Code" hAnsi="Fira Code"/>
              </a:rPr>
              <a:t> 24  </a:t>
            </a:r>
            <a:r>
              <a:rPr sz="1000" b="0" i="0">
                <a:solidFill>
                  <a:srgbClr val="374151"/>
                </a:solidFill>
                <a:latin typeface="Fira Code"/>
                <a:rFonts eastAsia="Fira Code" ascii="Fira Code" hAnsi="Fira Code"/>
              </a:rPr>
              <a:t>    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1">
                <a:solidFill>
                  <a:srgbClr val="8B5CF6"/>
                </a:solidFill>
                <a:latin typeface="微软雅黑"/>
                <a:rFonts eastAsia="微软雅黑" ascii="微软雅黑" hAnsi="微软雅黑"/>
              </a:rPr>
              <a:t>💡 函数节点可挂载到工作流任意位置，做关键词提取 / 分类 / 清洗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企业级智能体平台 · MaxKB 教学课件  ·  小陶老师  · 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30 / 60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2194560" cy="25603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  <a:rFonts eastAsia="微软雅黑" ascii="微软雅黑" hAnsi="微软雅黑"/>
              </a:rPr>
              <a:t>PART 2 · 实操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5B2EBF"/>
                </a:solidFill>
                <a:latin typeface="微软雅黑"/>
                <a:rFonts eastAsia="微软雅黑" ascii="微软雅黑" hAnsi="微软雅黑"/>
              </a:rPr>
              <a:t>2.10 MCP 工具接入实战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5486400" cy="45720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73152" cy="45720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14884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8B5CF6"/>
                </a:solidFill>
                <a:latin typeface="微软雅黑"/>
                <a:rFonts eastAsia="微软雅黑" ascii="微软雅黑" hAnsi="微软雅黑"/>
              </a:rPr>
              <a:t>🔌 MCP 工具类型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📚 知识库工具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85292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  /api/mcp/knowledge_base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145536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🔍 搜索工具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438144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  /api/mcp/search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73075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🗃️ 数据库工具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02336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  /api/mcp/database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31596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📧 邮件工具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608576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  /api/mcp/email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901184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📅 日历工具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19379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  /api/mcp/calendar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4864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🛠️ 自定义工具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77900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  /api/mcp/custom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2011680"/>
            <a:ext cx="5486400" cy="45720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2011680"/>
            <a:ext cx="73152" cy="45720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214884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  <a:latin typeface="微软雅黑"/>
                <a:rFonts eastAsia="微软雅黑" ascii="微软雅黑" hAnsi="微软雅黑"/>
              </a:rPr>
              <a:t>⚙️ 配置步骤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256032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1. 启动 MCP Server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285292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2. 注册到 MaxKB →「工具」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145536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3. 设置鉴权（API Key / OAuth）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3438144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4. 在工作流中拖入「MCP 节点」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373075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5. 选择已注册的 MCP 工具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402336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6. 配置输入输出参数映射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31596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7. 调试 + 发布 + 监控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企业级智能体平台 · MaxKB 教学课件  ·  小陶老师  · 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31 / 60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2194560" cy="25603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  <a:rFonts eastAsia="微软雅黑" ascii="微软雅黑" hAnsi="微软雅黑"/>
              </a:rPr>
              <a:t>PART 2 · 实操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5B2EBF"/>
                </a:solidFill>
                <a:latin typeface="微软雅黑"/>
                <a:rFonts eastAsia="微软雅黑" ascii="微软雅黑" hAnsi="微软雅黑"/>
              </a:rPr>
              <a:t>2.11 实战案例：智能客服 Agent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0"/>
            <a:ext cx="11612880" cy="641093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9436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1">
                <a:solidFill>
                  <a:srgbClr val="5B2EBF"/>
                </a:solidFill>
                <a:latin typeface="微软雅黑"/>
                <a:rFonts eastAsia="微软雅黑" ascii="微软雅黑" hAnsi="微软雅黑"/>
              </a:rPr>
              <a:t>💡 一个完整的客服 Agent ≈ 入口 + 分类 + 分支 + 输出 + 兜底，5 个节点即可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企业级智能体平台 · MaxKB 教学课件  ·  小陶老师  ·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32 / 60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2194560" cy="25603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  <a:rFonts eastAsia="微软雅黑" ascii="微软雅黑" hAnsi="微软雅黑"/>
              </a:rPr>
              <a:t>PART 2 · 实操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5B2EBF"/>
                </a:solidFill>
                <a:latin typeface="微软雅黑"/>
                <a:rFonts eastAsia="微软雅黑" ascii="微软雅黑" hAnsi="微软雅黑"/>
              </a:rPr>
              <a:t>2.12 6 大最佳实践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365760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3657600" cy="1828800"/>
          </a:xfrm>
          <a:prstGeom prst="rect">
            <a:avLst/>
          </a:prstGeom>
          <a:noFill/>
          <a:ln w="254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5B2EBF"/>
                </a:solidFill>
                <a:latin typeface="微软雅黑"/>
                <a:rFonts eastAsia="微软雅黑" ascii="微软雅黑" hAnsi="微软雅黑"/>
              </a:rPr>
              <a:t>📚 文档质量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3291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高质量文档 &gt; 高参数 LLM · 结构化文档召回率 +50%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2011680"/>
            <a:ext cx="365760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2011680"/>
            <a:ext cx="3657600" cy="1828800"/>
          </a:xfrm>
          <a:prstGeom prst="rect">
            <a:avLst/>
          </a:prstGeom>
          <a:noFill/>
          <a:ln w="254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2194560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5B2EBF"/>
                </a:solidFill>
                <a:latin typeface="微软雅黑"/>
                <a:rFonts eastAsia="微软雅黑" ascii="微软雅黑" hAnsi="微软雅黑"/>
              </a:rPr>
              <a:t>🎯 拆分策略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743200"/>
            <a:ext cx="3291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按段落 + 标题拆分，避免硬切硬断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2011680"/>
            <a:ext cx="365760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2011680"/>
            <a:ext cx="3657600" cy="1828800"/>
          </a:xfrm>
          <a:prstGeom prst="rect">
            <a:avLst/>
          </a:prstGeom>
          <a:noFill/>
          <a:ln w="254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194560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5B2EBF"/>
                </a:solidFill>
                <a:latin typeface="微软雅黑"/>
                <a:rFonts eastAsia="微软雅黑" ascii="微软雅黑" hAnsi="微软雅黑"/>
              </a:rPr>
              <a:t>🔍 Top-K 调优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743200"/>
            <a:ext cx="3291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k=3 太窄，k=10 太宽，建议 k=5-8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114800"/>
            <a:ext cx="365760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114800"/>
            <a:ext cx="3657600" cy="1828800"/>
          </a:xfrm>
          <a:prstGeom prst="rect">
            <a:avLst/>
          </a:prstGeom>
          <a:noFill/>
          <a:ln w="254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297680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5B2EBF"/>
                </a:solidFill>
                <a:latin typeface="微软雅黑"/>
                <a:rFonts eastAsia="微软雅黑" ascii="微软雅黑" hAnsi="微软雅黑"/>
              </a:rPr>
              <a:t>✏️ 提示词工程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846320"/>
            <a:ext cx="3291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明确角色 + 输出格式 + 上下文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4114800"/>
            <a:ext cx="365760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97680" y="4114800"/>
            <a:ext cx="3657600" cy="1828800"/>
          </a:xfrm>
          <a:prstGeom prst="rect">
            <a:avLst/>
          </a:prstGeom>
          <a:noFill/>
          <a:ln w="254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0560" y="4297680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5B2EBF"/>
                </a:solidFill>
                <a:latin typeface="微软雅黑"/>
                <a:rFonts eastAsia="微软雅黑" ascii="微软雅黑" hAnsi="微软雅黑"/>
              </a:rPr>
              <a:t>🧪 评测机制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4846320"/>
            <a:ext cx="3291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建 50-100 条评测集，每次改完跑评测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4114800"/>
            <a:ext cx="365760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4114800"/>
            <a:ext cx="3657600" cy="1828800"/>
          </a:xfrm>
          <a:prstGeom prst="rect">
            <a:avLst/>
          </a:prstGeom>
          <a:noFill/>
          <a:ln w="254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4297680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5B2EBF"/>
                </a:solidFill>
                <a:latin typeface="微软雅黑"/>
                <a:rFonts eastAsia="微软雅黑" ascii="微软雅黑" hAnsi="微软雅黑"/>
              </a:rPr>
              <a:t>🔒 权限隔离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4846320"/>
            <a:ext cx="3291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多知识库隔离，避免业务串扰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企业级智能体平台 · MaxKB 教学课件  ·  小陶老师  · 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33 / 60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2194560" cy="25603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  <a:rFonts eastAsia="微软雅黑" ascii="微软雅黑" hAnsi="微软雅黑"/>
              </a:rPr>
              <a:t>PART 2 · 实操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5B2EBF"/>
                </a:solidFill>
                <a:latin typeface="微软雅黑"/>
                <a:rFonts eastAsia="微软雅黑" ascii="微软雅黑" hAnsi="微软雅黑"/>
              </a:rPr>
              <a:t>2.13 排坑指南 · 8 大常见错误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5486400" cy="9144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73152" cy="9144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176272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B2EBF"/>
                </a:solidFill>
                <a:latin typeface="微软雅黑"/>
                <a:rFonts eastAsia="微软雅黑" ascii="微软雅黑" hAnsi="微软雅黑"/>
              </a:rPr>
              <a:t>🔴 docker pull 超时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2176272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✅ 国内镜像 → 离线安装文档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2011680"/>
            <a:ext cx="5486400" cy="9144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2011680"/>
            <a:ext cx="73152" cy="9144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176272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B2EBF"/>
                </a:solidFill>
                <a:latin typeface="微软雅黑"/>
                <a:rFonts eastAsia="微软雅黑" ascii="微软雅黑" hAnsi="微软雅黑"/>
              </a:rPr>
              <a:t>🔴 登录后白屏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2176272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✅ 浏览器升级 Chrome 90+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063240"/>
            <a:ext cx="5486400" cy="9144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063240"/>
            <a:ext cx="73152" cy="9144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227832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B2EBF"/>
                </a:solidFill>
                <a:latin typeface="微软雅黑"/>
                <a:rFonts eastAsia="微软雅黑" ascii="微软雅黑" hAnsi="微软雅黑"/>
              </a:rPr>
              <a:t>🔴 向量化为空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3227832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✅ 检查 API Key 有效性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3063240"/>
            <a:ext cx="5486400" cy="9144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3063240"/>
            <a:ext cx="73152" cy="9144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227832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B2EBF"/>
                </a:solidFill>
                <a:latin typeface="微软雅黑"/>
                <a:rFonts eastAsia="微软雅黑" ascii="微软雅黑" hAnsi="微软雅黑"/>
              </a:rPr>
              <a:t>🔴 回答与文档无关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3227832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✅ 调小 Top-K / 调整拆分粒度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114800"/>
            <a:ext cx="5486400" cy="9144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4114800"/>
            <a:ext cx="73152" cy="9144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279392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B2EBF"/>
                </a:solidFill>
                <a:latin typeface="微软雅黑"/>
                <a:rFonts eastAsia="微软雅黑" ascii="微软雅黑" hAnsi="微软雅黑"/>
              </a:rPr>
              <a:t>🔴 MCP 工具调用失败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4640" y="4279392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✅ 升级到 v2.0+ / 检查协议版本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4114800"/>
            <a:ext cx="5486400" cy="9144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4114800"/>
            <a:ext cx="73152" cy="9144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4279392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B2EBF"/>
                </a:solidFill>
                <a:latin typeface="微软雅黑"/>
                <a:rFonts eastAsia="微软雅黑" ascii="微软雅黑" hAnsi="微软雅黑"/>
              </a:rPr>
              <a:t>🔴 工作流调试卡住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0" y="4279392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✅ 逐节点排查 / 关闭部分节点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166360"/>
            <a:ext cx="5486400" cy="9144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5166360"/>
            <a:ext cx="73152" cy="9144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5330952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B2EBF"/>
                </a:solidFill>
                <a:latin typeface="微软雅黑"/>
                <a:rFonts eastAsia="微软雅黑" ascii="微软雅黑" hAnsi="微软雅黑"/>
              </a:rPr>
              <a:t>🔴 embedding 维度不匹配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34640" y="5330952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✅ 统一 embedding 模型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5166360"/>
            <a:ext cx="5486400" cy="9144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17920" y="5166360"/>
            <a:ext cx="73152" cy="9144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20" y="5330952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B2EBF"/>
                </a:solidFill>
                <a:latin typeface="微软雅黑"/>
                <a:rFonts eastAsia="微软雅黑" ascii="微软雅黑" hAnsi="微软雅黑"/>
              </a:rPr>
              <a:t>🔴 应用发布后无法访问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0" y="5330952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✅ 检查防火墙 / Nginx 配置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企业级智能体平台 · MaxKB 教学课件  ·  小陶老师  ·  2026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34 / 60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2194560" cy="25603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  <a:rFonts eastAsia="微软雅黑" ascii="微软雅黑" hAnsi="微软雅黑"/>
              </a:rPr>
              <a:t>PART 2 · 实操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5B2EBF"/>
                </a:solidFill>
                <a:latin typeface="微软雅黑"/>
                <a:rFonts eastAsia="微软雅黑" ascii="微软雅黑" hAnsi="微软雅黑"/>
              </a:rPr>
              <a:t>2.14 现场成果：3 大典型应用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286000"/>
            <a:ext cx="3657600" cy="36576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3657600" cy="4572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微软雅黑"/>
                <a:rFonts eastAsia="微软雅黑" ascii="微软雅黑" hAnsi="微软雅黑"/>
              </a:rPr>
              <a:t>📚 课程问答助手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17520"/>
            <a:ext cx="310896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上传《机器学习》教材 PDF</a:t>
            </a:r>
          </a:p>
          <a:p>
            <a:pPr algn="l">
              <a:lnSpc>
                <a:spcPct val="160000"/>
              </a:lnSpc>
            </a:pPr>
            <a:r>
              <a:rPr sz="12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学生问任何概念 → 引用教材作答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2286000"/>
            <a:ext cx="3657600" cy="36576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2286000"/>
            <a:ext cx="3657600" cy="4572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23774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微软雅黑"/>
                <a:rFonts eastAsia="微软雅黑" ascii="微软雅黑" hAnsi="微软雅黑"/>
              </a:rPr>
              <a:t>💼 企业招聘助手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017520"/>
            <a:ext cx="310896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上传 JD + 面试题库</a:t>
            </a:r>
          </a:p>
          <a:p>
            <a:pPr algn="l">
              <a:lnSpc>
                <a:spcPct val="160000"/>
              </a:lnSpc>
            </a:pPr>
            <a:r>
              <a:rPr sz="12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HR 输入候选人 → 自动生成面试题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2286000"/>
            <a:ext cx="3657600" cy="36576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2286000"/>
            <a:ext cx="3657600" cy="4572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23774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微软雅黑"/>
                <a:rFonts eastAsia="微软雅黑" ascii="微软雅黑" hAnsi="微软雅黑"/>
              </a:rPr>
              <a:t>🔬 论文精读助手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3017520"/>
            <a:ext cx="310896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上传 arXiv 论文</a:t>
            </a:r>
          </a:p>
          <a:p>
            <a:pPr algn="l">
              <a:lnSpc>
                <a:spcPct val="160000"/>
              </a:lnSpc>
            </a:pPr>
            <a:r>
              <a:rPr sz="12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提取「方法 + 实验 + 限制」三类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126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1">
                <a:solidFill>
                  <a:srgbClr val="8B5CF6"/>
                </a:solidFill>
                <a:latin typeface="微软雅黑"/>
                <a:rFonts eastAsia="微软雅黑" ascii="微软雅黑" hAnsi="微软雅黑"/>
              </a:rPr>
              <a:t>💡 实验 1 完成后，学生可现场演示自己创建的应用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企业级智能体平台 · MaxKB 教学课件  ·  小陶老师  · 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35 / 60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2194560" cy="25603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  <a:rFonts eastAsia="微软雅黑" ascii="微软雅黑" hAnsi="微软雅黑"/>
              </a:rPr>
              <a:t>PART 2 · 实操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5B2EBF"/>
                </a:solidFill>
                <a:latin typeface="微软雅黑"/>
                <a:rFonts eastAsia="微软雅黑" ascii="微软雅黑" hAnsi="微软雅黑"/>
              </a:rPr>
              <a:t>中场休息 · 10 分钟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8B5CF6"/>
                </a:solidFill>
                <a:latin typeface="微软雅黑"/>
                <a:rFonts eastAsia="微软雅黑" ascii="微软雅黑" hAnsi="微软雅黑"/>
              </a:rPr>
              <a:t>三件可同步进行的事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9319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① 完成实验 1：Hello MaxKB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② 阅读源码：/apps/knowledge 和 /apps/application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③ 思考：你身边有什么场景适合用 RAG 改造？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企业级智能体平台 · MaxKB 教学课件  ·  小陶老师  · 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36 / 60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2194560" cy="25603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  <a:rFonts eastAsia="微软雅黑" ascii="微软雅黑" hAnsi="微软雅黑"/>
              </a:rPr>
              <a:t>PART 2 · 实操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5B2EBF"/>
                </a:solidFill>
                <a:latin typeface="微软雅黑"/>
                <a:rFonts eastAsia="微软雅黑" ascii="微软雅黑" hAnsi="微软雅黑"/>
              </a:rPr>
              <a:t>2.15 应用调试关键指标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5486400" cy="22860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73152" cy="22860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14884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8B5CF6"/>
                </a:solidFill>
                <a:latin typeface="微软雅黑"/>
                <a:rFonts eastAsia="微软雅黑" ascii="微软雅黑" hAnsi="微软雅黑"/>
              </a:rPr>
              <a:t>📊 命中率指标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✅ @1：第一条是否命中（&gt;70%）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85292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✅ @5：前五条是否命中（&gt;90%）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145536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✅ @10：前十条是否命中（&gt;95%）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438144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✅ MRR：平均倒数排名（越高越好）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389120"/>
            <a:ext cx="5486400" cy="22860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4389120"/>
            <a:ext cx="73152" cy="22860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52628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  <a:latin typeface="微软雅黑"/>
                <a:rFonts eastAsia="微软雅黑" ascii="微软雅黑" hAnsi="微软雅黑"/>
              </a:rPr>
              <a:t>⏱️ 性能指标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93776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✅ 首字延迟：&lt;2s 为优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23036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✅ 全响应时间：&lt;5s 为优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522976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✅ Embedding 计算：&lt;0.5s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815584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✅ 检索耗时：&lt;200ms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011680"/>
            <a:ext cx="5486400" cy="45720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2011680"/>
            <a:ext cx="73152" cy="45720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214884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34D399"/>
                </a:solidFill>
                <a:latin typeface="微软雅黑"/>
                <a:rFonts eastAsia="微软雅黑" ascii="微软雅黑" hAnsi="微软雅黑"/>
              </a:rPr>
              <a:t>💰 成本指标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56032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· token 消耗（每千次问答）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285292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· embedding 费用（每百万 token）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3145536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· 向量数据库存储（每万文档）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438144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· 服务器成本（按月）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373075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· 单次问答电费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402336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· 投入产出比 ROI 计算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431596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· 优化前后对比报告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企业级智能体平台 · MaxKB 教学课件  ·  小陶老师  · 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37 / 60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2194560" cy="25603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  <a:rFonts eastAsia="微软雅黑" ascii="微软雅黑" hAnsi="微软雅黑"/>
              </a:rPr>
              <a:t>PART 2 · 实操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5B2EBF"/>
                </a:solidFill>
                <a:latin typeface="微软雅黑"/>
                <a:rFonts eastAsia="微软雅黑" ascii="微软雅黑" hAnsi="微软雅黑"/>
              </a:rPr>
              <a:t>2.16 性能调优 6 招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5486400" cy="2011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5486400" cy="2011680"/>
          </a:xfrm>
          <a:prstGeom prst="rect">
            <a:avLst/>
          </a:prstGeom>
          <a:noFill/>
          <a:ln w="254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5B2EBF"/>
                </a:solidFill>
                <a:latin typeface="微软雅黑"/>
                <a:rFonts eastAsia="微软雅黑" ascii="微软雅黑" hAnsi="微软雅黑"/>
              </a:rPr>
              <a:t>🎯 招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34640"/>
            <a:ext cx="51206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合理拆分文档，避免段落被切断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011680"/>
            <a:ext cx="5486400" cy="2011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2011680"/>
            <a:ext cx="5486400" cy="2011680"/>
          </a:xfrm>
          <a:prstGeom prst="rect">
            <a:avLst/>
          </a:prstGeom>
          <a:noFill/>
          <a:ln w="254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19456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5B2EBF"/>
                </a:solidFill>
                <a:latin typeface="微软雅黑"/>
                <a:rFonts eastAsia="微软雅黑" ascii="微软雅黑" hAnsi="微软雅黑"/>
              </a:rPr>
              <a:t>🎯 招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834640"/>
            <a:ext cx="51206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预计算 embedding，避免运行时重复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206240"/>
            <a:ext cx="5486400" cy="2011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4206240"/>
            <a:ext cx="5486400" cy="2011680"/>
          </a:xfrm>
          <a:prstGeom prst="rect">
            <a:avLst/>
          </a:prstGeom>
          <a:noFill/>
          <a:ln w="254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38912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5B2EBF"/>
                </a:solidFill>
                <a:latin typeface="微软雅黑"/>
                <a:rFonts eastAsia="微软雅黑" ascii="微软雅黑" hAnsi="微软雅黑"/>
              </a:rPr>
              <a:t>🎯 招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029200"/>
            <a:ext cx="51206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使用 HNSW 索引代替 IVFFlat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4206240"/>
            <a:ext cx="5486400" cy="2011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4206240"/>
            <a:ext cx="5486400" cy="2011680"/>
          </a:xfrm>
          <a:prstGeom prst="rect">
            <a:avLst/>
          </a:prstGeom>
          <a:noFill/>
          <a:ln w="254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438912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5B2EBF"/>
                </a:solidFill>
                <a:latin typeface="微软雅黑"/>
                <a:rFonts eastAsia="微软雅黑" ascii="微软雅黑" hAnsi="微软雅黑"/>
              </a:rPr>
              <a:t>🎯 招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5029200"/>
            <a:ext cx="51206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二级缓存 + 流式输出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6400800"/>
            <a:ext cx="5486400" cy="2011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6400800"/>
            <a:ext cx="5486400" cy="2011680"/>
          </a:xfrm>
          <a:prstGeom prst="rect">
            <a:avLst/>
          </a:prstGeom>
          <a:noFill/>
          <a:ln w="254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658368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5B2EBF"/>
                </a:solidFill>
                <a:latin typeface="微软雅黑"/>
                <a:rFonts eastAsia="微软雅黑" ascii="微软雅黑" hAnsi="微软雅黑"/>
              </a:rPr>
              <a:t>🎯 招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7223760"/>
            <a:ext cx="51206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关键场景使用 GPT-4 / Claude 3.5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6400800"/>
            <a:ext cx="5486400" cy="2011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6400800"/>
            <a:ext cx="5486400" cy="2011680"/>
          </a:xfrm>
          <a:prstGeom prst="rect">
            <a:avLst/>
          </a:prstGeom>
          <a:noFill/>
          <a:ln w="254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658368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5B2EBF"/>
                </a:solidFill>
                <a:latin typeface="微软雅黑"/>
                <a:rFonts eastAsia="微软雅黑" ascii="微软雅黑" hAnsi="微软雅黑"/>
              </a:rPr>
              <a:t>🎯 招 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7223760"/>
            <a:ext cx="51206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异步处理 + 错峰调用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企业级智能体平台 · MaxKB 教学课件  ·  小陶老师  · 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38 / 60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2194560" cy="25603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  <a:rFonts eastAsia="微软雅黑" ascii="微软雅黑" hAnsi="微软雅黑"/>
              </a:rPr>
              <a:t>PART 2 · 实操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5B2EBF"/>
                </a:solidFill>
                <a:latin typeface="微软雅黑"/>
                <a:rFonts eastAsia="微软雅黑" ascii="微软雅黑" hAnsi="微软雅黑"/>
              </a:rPr>
              <a:t>2.17 工作流调试技巧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调试是工作流落地的关键 · 掌握 5 大调试技巧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926080"/>
            <a:ext cx="11247120" cy="50292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926080"/>
            <a:ext cx="73152" cy="5029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97180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B2EBF"/>
                </a:solidFill>
                <a:latin typeface="微软雅黑"/>
                <a:rFonts eastAsia="微软雅黑" ascii="微软雅黑" hAnsi="微软雅黑"/>
              </a:rPr>
              <a:t>🎯 单步调试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逐个节点执行，观察每个节点的输入输出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520440"/>
            <a:ext cx="11247120" cy="50292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3520440"/>
            <a:ext cx="73152" cy="5029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56616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B2EBF"/>
                </a:solidFill>
                <a:latin typeface="微软雅黑"/>
                <a:rFonts eastAsia="微软雅黑" ascii="微软雅黑" hAnsi="微软雅黑"/>
              </a:rPr>
              <a:t>📊 流程追踪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56616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开启「追踪」功能，记录每节点耗时和结果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114800"/>
            <a:ext cx="11247120" cy="50292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114800"/>
            <a:ext cx="73152" cy="5029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16052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B2EBF"/>
                </a:solidFill>
                <a:latin typeface="微软雅黑"/>
                <a:rFonts eastAsia="微软雅黑" ascii="微软雅黑" hAnsi="微软雅黑"/>
              </a:rPr>
              <a:t>💾 中间结果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416052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在关键节点保存中间变量到知识库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709160"/>
            <a:ext cx="11247120" cy="50292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709160"/>
            <a:ext cx="73152" cy="5029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75488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B2EBF"/>
                </a:solidFill>
                <a:latin typeface="微软雅黑"/>
                <a:rFonts eastAsia="微软雅黑" ascii="微软雅黑" hAnsi="微软雅黑"/>
              </a:rPr>
              <a:t>🔄 版本对比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47548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导出工作流 JSON 做 diff 对比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303520"/>
            <a:ext cx="11247120" cy="50292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5303520"/>
            <a:ext cx="73152" cy="5029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34924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B2EBF"/>
                </a:solidFill>
                <a:latin typeface="微软雅黑"/>
                <a:rFonts eastAsia="微软雅黑" ascii="微软雅黑" hAnsi="微软雅黑"/>
              </a:rPr>
              <a:t>🧪 评测用例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534924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为复杂工作流准备 50+ 评测用例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企业级智能体平台 · MaxKB 教学课件  ·  小陶老师  · 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39 / 60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2194560" cy="25603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  <a:rFonts eastAsia="微软雅黑" ascii="微软雅黑" hAnsi="微软雅黑"/>
              </a:rPr>
              <a:t>PART 2 · 实操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5B2EBF"/>
                </a:solidFill>
                <a:latin typeface="微软雅黑"/>
                <a:rFonts eastAsia="微软雅黑" ascii="微软雅黑" hAnsi="微软雅黑"/>
              </a:rPr>
              <a:t>2.18 工作流 JSON 配置示例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11247120" cy="41148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11247120" cy="25603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048256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微软雅黑"/>
                <a:rFonts eastAsia="微软雅黑" ascii="微软雅黑" hAnsi="微软雅黑"/>
              </a:rPr>
              <a:t>▶ JSON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31720"/>
            <a:ext cx="10972800" cy="370332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Fira Code"/>
                <a:rFonts eastAsia="Fira Code" ascii="Fira Code" hAnsi="Fira Code"/>
              </a:rPr>
              <a:t>  1  </a:t>
            </a:r>
            <a:r>
              <a:rPr sz="1000" b="0" i="0">
                <a:solidFill>
                  <a:srgbClr val="374151"/>
                </a:solidFill>
                <a:latin typeface="Fira Code"/>
                <a:rFonts eastAsia="Fira Code" ascii="Fira Code" hAnsi="Fira Code"/>
              </a:rPr>
              <a:t>{</a:t>
            </a:r>
          </a:p>
          <a:p>
            <a:pPr algn="l"/>
            <a:r>
              <a:rPr sz="900" b="0" i="0">
                <a:solidFill>
                  <a:srgbClr val="6B7280"/>
                </a:solidFill>
                <a:latin typeface="Fira Code"/>
                <a:rFonts eastAsia="Fira Code" ascii="Fira Code" hAnsi="Fira Code"/>
              </a:rPr>
              <a:t>  2  </a:t>
            </a:r>
            <a:r>
              <a:rPr sz="1000" b="0" i="0">
                <a:solidFill>
                  <a:srgbClr val="374151"/>
                </a:solidFill>
                <a:latin typeface="Fira Code"/>
                <a:rFonts eastAsia="Fira Code" ascii="Fira Code" hAnsi="Fira Code"/>
              </a:rPr>
              <a:t>  "nodes": [</a:t>
            </a:r>
          </a:p>
          <a:p>
            <a:pPr algn="l"/>
            <a:r>
              <a:rPr sz="900" b="0" i="0">
                <a:solidFill>
                  <a:srgbClr val="6B7280"/>
                </a:solidFill>
                <a:latin typeface="Fira Code"/>
                <a:rFonts eastAsia="Fira Code" ascii="Fira Code" hAnsi="Fira Code"/>
              </a:rPr>
              <a:t>  3  </a:t>
            </a:r>
            <a:r>
              <a:rPr sz="1000" b="0" i="0">
                <a:solidFill>
                  <a:srgbClr val="374151"/>
                </a:solidFill>
                <a:latin typeface="Fira Code"/>
                <a:rFonts eastAsia="Fira Code" ascii="Fira Code" hAnsi="Fira Code"/>
              </a:rPr>
              <a:t>    {"id": "start", "type": "start", "name": "开始"},</a:t>
            </a:r>
          </a:p>
          <a:p>
            <a:pPr algn="l"/>
            <a:r>
              <a:rPr sz="900" b="0" i="0">
                <a:solidFill>
                  <a:srgbClr val="6B7280"/>
                </a:solidFill>
                <a:latin typeface="Fira Code"/>
                <a:rFonts eastAsia="Fira Code" ascii="Fira Code" hAnsi="Fira Code"/>
              </a:rPr>
              <a:t>  4  </a:t>
            </a:r>
            <a:r>
              <a:rPr sz="1000" b="0" i="0">
                <a:solidFill>
                  <a:srgbClr val="374151"/>
                </a:solidFill>
                <a:latin typeface="Fira Code"/>
                <a:rFonts eastAsia="Fira Code" ascii="Fira Code" hAnsi="Fira Code"/>
              </a:rPr>
              <a:t>    {"id": "classify", "type": "llm", "name": "问题分类",</a:t>
            </a:r>
          </a:p>
          <a:p>
            <a:pPr algn="l"/>
            <a:r>
              <a:rPr sz="900" b="0" i="0">
                <a:solidFill>
                  <a:srgbClr val="6B7280"/>
                </a:solidFill>
                <a:latin typeface="Fira Code"/>
                <a:rFonts eastAsia="Fira Code" ascii="Fira Code" hAnsi="Fira Code"/>
              </a:rPr>
              <a:t>  5  </a:t>
            </a:r>
            <a:r>
              <a:rPr sz="1000" b="0" i="0">
                <a:solidFill>
                  <a:srgbClr val="374151"/>
                </a:solidFill>
                <a:latin typeface="Fira Code"/>
                <a:rFonts eastAsia="Fira Code" ascii="Fira Code" hAnsi="Fira Code"/>
              </a:rPr>
              <a:t>     "config": {"prompt": "判断问题类型"}},</a:t>
            </a:r>
          </a:p>
          <a:p>
            <a:pPr algn="l"/>
            <a:r>
              <a:rPr sz="900" b="0" i="0">
                <a:solidFill>
                  <a:srgbClr val="6B7280"/>
                </a:solidFill>
                <a:latin typeface="Fira Code"/>
                <a:rFonts eastAsia="Fira Code" ascii="Fira Code" hAnsi="Fira Code"/>
              </a:rPr>
              <a:t>  6  </a:t>
            </a:r>
            <a:r>
              <a:rPr sz="1000" b="0" i="0">
                <a:solidFill>
                  <a:srgbClr val="374151"/>
                </a:solidFill>
                <a:latin typeface="Fira Code"/>
                <a:rFonts eastAsia="Fira Code" ascii="Fira Code" hAnsi="Fira Code"/>
              </a:rPr>
              <a:t>    {"id": "rag_qa", "type": "knowledge_retrieval",</a:t>
            </a:r>
          </a:p>
          <a:p>
            <a:pPr algn="l"/>
            <a:r>
              <a:rPr sz="900" b="0" i="0">
                <a:solidFill>
                  <a:srgbClr val="6B7280"/>
                </a:solidFill>
                <a:latin typeface="Fira Code"/>
                <a:rFonts eastAsia="Fira Code" ascii="Fira Code" hAnsi="Fira Code"/>
              </a:rPr>
              <a:t>  7  </a:t>
            </a:r>
            <a:r>
              <a:rPr sz="1000" b="0" i="0">
                <a:solidFill>
                  <a:srgbClr val="374151"/>
                </a:solidFill>
                <a:latin typeface="Fira Code"/>
                <a:rFonts eastAsia="Fira Code" ascii="Fira Code" hAnsi="Fira Code"/>
              </a:rPr>
              <a:t>     "name": "知识库查询", "config": {"kb_id": "hr_kb"}},</a:t>
            </a:r>
          </a:p>
          <a:p>
            <a:pPr algn="l"/>
            <a:r>
              <a:rPr sz="900" b="0" i="0">
                <a:solidFill>
                  <a:srgbClr val="6B7280"/>
                </a:solidFill>
                <a:latin typeface="Fira Code"/>
                <a:rFonts eastAsia="Fira Code" ascii="Fira Code" hAnsi="Fira Code"/>
              </a:rPr>
              <a:t>  8  </a:t>
            </a:r>
            <a:r>
              <a:rPr sz="1000" b="0" i="0">
                <a:solidFill>
                  <a:srgbClr val="374151"/>
                </a:solidFill>
                <a:latin typeface="Fira Code"/>
                <a:rFonts eastAsia="Fira Code" ascii="Fira Code" hAnsi="Fira Code"/>
              </a:rPr>
              <a:t>    {"id": "answer", "type": "llm", "name": "生成回答",</a:t>
            </a:r>
          </a:p>
          <a:p>
            <a:pPr algn="l"/>
            <a:r>
              <a:rPr sz="900" b="0" i="0">
                <a:solidFill>
                  <a:srgbClr val="6B7280"/>
                </a:solidFill>
                <a:latin typeface="Fira Code"/>
                <a:rFonts eastAsia="Fira Code" ascii="Fira Code" hAnsi="Fira Code"/>
              </a:rPr>
              <a:t>  9  </a:t>
            </a:r>
            <a:r>
              <a:rPr sz="1000" b="0" i="0">
                <a:solidFill>
                  <a:srgbClr val="374151"/>
                </a:solidFill>
                <a:latin typeface="Fira Code"/>
                <a:rFonts eastAsia="Fira Code" ascii="Fira Code" hAnsi="Fira Code"/>
              </a:rPr>
              <a:t>     "config": {"prompt": "基于上下文回答"}}</a:t>
            </a:r>
          </a:p>
          <a:p>
            <a:pPr algn="l"/>
            <a:r>
              <a:rPr sz="900" b="0" i="0">
                <a:solidFill>
                  <a:srgbClr val="6B7280"/>
                </a:solidFill>
                <a:latin typeface="Fira Code"/>
                <a:rFonts eastAsia="Fira Code" ascii="Fira Code" hAnsi="Fira Code"/>
              </a:rPr>
              <a:t> 10  </a:t>
            </a:r>
            <a:r>
              <a:rPr sz="1000" b="0" i="0">
                <a:solidFill>
                  <a:srgbClr val="374151"/>
                </a:solidFill>
                <a:latin typeface="Fira Code"/>
                <a:rFonts eastAsia="Fira Code" ascii="Fira Code" hAnsi="Fira Code"/>
              </a:rPr>
              <a:t>  ],</a:t>
            </a:r>
          </a:p>
          <a:p>
            <a:pPr algn="l"/>
            <a:r>
              <a:rPr sz="900" b="0" i="0">
                <a:solidFill>
                  <a:srgbClr val="6B7280"/>
                </a:solidFill>
                <a:latin typeface="Fira Code"/>
                <a:rFonts eastAsia="Fira Code" ascii="Fira Code" hAnsi="Fira Code"/>
              </a:rPr>
              <a:t> 11  </a:t>
            </a:r>
            <a:r>
              <a:rPr sz="1000" b="0" i="0">
                <a:solidFill>
                  <a:srgbClr val="374151"/>
                </a:solidFill>
                <a:latin typeface="Fira Code"/>
                <a:rFonts eastAsia="Fira Code" ascii="Fira Code" hAnsi="Fira Code"/>
              </a:rPr>
              <a:t>  "edges": [</a:t>
            </a:r>
          </a:p>
          <a:p>
            <a:pPr algn="l"/>
            <a:r>
              <a:rPr sz="900" b="0" i="0">
                <a:solidFill>
                  <a:srgbClr val="6B7280"/>
                </a:solidFill>
                <a:latin typeface="Fira Code"/>
                <a:rFonts eastAsia="Fira Code" ascii="Fira Code" hAnsi="Fira Code"/>
              </a:rPr>
              <a:t> 12  </a:t>
            </a:r>
            <a:r>
              <a:rPr sz="1000" b="0" i="0">
                <a:solidFill>
                  <a:srgbClr val="374151"/>
                </a:solidFill>
                <a:latin typeface="Fira Code"/>
                <a:rFonts eastAsia="Fira Code" ascii="Fira Code" hAnsi="Fira Code"/>
              </a:rPr>
              <a:t>    {"from": "start", "to": "classify"},</a:t>
            </a:r>
          </a:p>
          <a:p>
            <a:pPr algn="l"/>
            <a:r>
              <a:rPr sz="900" b="0" i="0">
                <a:solidFill>
                  <a:srgbClr val="6B7280"/>
                </a:solidFill>
                <a:latin typeface="Fira Code"/>
                <a:rFonts eastAsia="Fira Code" ascii="Fira Code" hAnsi="Fira Code"/>
              </a:rPr>
              <a:t> 13  </a:t>
            </a:r>
            <a:r>
              <a:rPr sz="1000" b="0" i="0">
                <a:solidFill>
                  <a:srgbClr val="374151"/>
                </a:solidFill>
                <a:latin typeface="Fira Code"/>
                <a:rFonts eastAsia="Fira Code" ascii="Fira Code" hAnsi="Fira Code"/>
              </a:rPr>
              <a:t>    {"from": "classify", "to": "rag_qa",</a:t>
            </a:r>
          </a:p>
          <a:p>
            <a:pPr algn="l"/>
            <a:r>
              <a:rPr sz="900" b="0" i="0">
                <a:solidFill>
                  <a:srgbClr val="6B7280"/>
                </a:solidFill>
                <a:latin typeface="Fira Code"/>
                <a:rFonts eastAsia="Fira Code" ascii="Fira Code" hAnsi="Fira Code"/>
              </a:rPr>
              <a:t> 14  </a:t>
            </a:r>
            <a:r>
              <a:rPr sz="1000" b="0" i="0">
                <a:solidFill>
                  <a:srgbClr val="374151"/>
                </a:solidFill>
                <a:latin typeface="Fira Code"/>
                <a:rFonts eastAsia="Fira Code" ascii="Fira Code" hAnsi="Fira Code"/>
              </a:rPr>
              <a:t>     "condition": "type=='业务咨询'"},</a:t>
            </a:r>
          </a:p>
          <a:p>
            <a:pPr algn="l"/>
            <a:r>
              <a:rPr sz="900" b="0" i="0">
                <a:solidFill>
                  <a:srgbClr val="6B7280"/>
                </a:solidFill>
                <a:latin typeface="Fira Code"/>
                <a:rFonts eastAsia="Fira Code" ascii="Fira Code" hAnsi="Fira Code"/>
              </a:rPr>
              <a:t> 15  </a:t>
            </a:r>
            <a:r>
              <a:rPr sz="1000" b="0" i="0">
                <a:solidFill>
                  <a:srgbClr val="374151"/>
                </a:solidFill>
                <a:latin typeface="Fira Code"/>
                <a:rFonts eastAsia="Fira Code" ascii="Fira Code" hAnsi="Fira Code"/>
              </a:rPr>
              <a:t>    {"from": "rag_qa", "to": "answer"}</a:t>
            </a:r>
          </a:p>
          <a:p>
            <a:pPr algn="l"/>
            <a:r>
              <a:rPr sz="900" b="0" i="0">
                <a:solidFill>
                  <a:srgbClr val="6B7280"/>
                </a:solidFill>
                <a:latin typeface="Fira Code"/>
                <a:rFonts eastAsia="Fira Code" ascii="Fira Code" hAnsi="Fira Code"/>
              </a:rPr>
              <a:t> 16  </a:t>
            </a:r>
            <a:r>
              <a:rPr sz="1000" b="0" i="0">
                <a:solidFill>
                  <a:srgbClr val="374151"/>
                </a:solidFill>
                <a:latin typeface="Fira Code"/>
                <a:rFonts eastAsia="Fira Code" ascii="Fira Code" hAnsi="Fira Code"/>
              </a:rPr>
              <a:t>  ]</a:t>
            </a:r>
          </a:p>
          <a:p>
            <a:pPr algn="l"/>
            <a:r>
              <a:rPr sz="900" b="0" i="0">
                <a:solidFill>
                  <a:srgbClr val="6B7280"/>
                </a:solidFill>
                <a:latin typeface="Fira Code"/>
                <a:rFonts eastAsia="Fira Code" ascii="Fira Code" hAnsi="Fira Code"/>
              </a:rPr>
              <a:t> 17  </a:t>
            </a:r>
            <a:r>
              <a:rPr sz="1000" b="0" i="0">
                <a:solidFill>
                  <a:srgbClr val="374151"/>
                </a:solidFill>
                <a:latin typeface="Fira Code"/>
                <a:rFonts eastAsia="Fira Code" ascii="Fira Code" hAnsi="Fira Code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1">
                <a:solidFill>
                  <a:srgbClr val="8B5CF6"/>
                </a:solidFill>
                <a:latin typeface="微软雅黑"/>
                <a:rFonts eastAsia="微软雅黑" ascii="微软雅黑" hAnsi="微软雅黑"/>
              </a:rPr>
              <a:t>💡 工作流导出 / 导入 JSON，可在团队内做版本管理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企业级智能体平台 · MaxKB 教学课件  ·  小陶老师  · 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40 / 60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2194560" cy="25603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  <a:rFonts eastAsia="微软雅黑" ascii="微软雅黑" hAnsi="微软雅黑"/>
              </a:rPr>
              <a:t>PART 2 · 实操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5B2EBF"/>
                </a:solidFill>
                <a:latin typeface="微软雅黑"/>
                <a:rFonts eastAsia="微软雅黑" ascii="微软雅黑" hAnsi="微软雅黑"/>
              </a:rPr>
              <a:t>2.19 多模态能力扩展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5486400" cy="18288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91440" cy="18288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5B2EBF"/>
                </a:solidFill>
                <a:latin typeface="微软雅黑"/>
                <a:rFonts eastAsia="微软雅黑" ascii="微软雅黑" hAnsi="微软雅黑"/>
              </a:rPr>
              <a:t>🖼️ 图像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✓ GPT-4V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35808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✓ Claude 3.5 Vision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28416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✓ Qwen-VL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621024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✓ Gemini 1.5 Pro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011680"/>
            <a:ext cx="5486400" cy="18288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2011680"/>
            <a:ext cx="91440" cy="18288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19456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5B2EBF"/>
                </a:solidFill>
                <a:latin typeface="微软雅黑"/>
                <a:rFonts eastAsia="微软雅黑" ascii="微软雅黑" hAnsi="微软雅黑"/>
              </a:rPr>
              <a:t>🎵 音频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74320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✓ Whisper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035808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✓ Step-Audio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328416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✓ CosyVoice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621024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✓ Edge-TTS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114800"/>
            <a:ext cx="5486400" cy="18288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4114800"/>
            <a:ext cx="91440" cy="18288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29768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5B2EBF"/>
                </a:solidFill>
                <a:latin typeface="微软雅黑"/>
                <a:rFonts eastAsia="微软雅黑" ascii="微软雅黑" hAnsi="微软雅黑"/>
              </a:rPr>
              <a:t>🎬 视频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84632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✓ GPT-4o 视频理解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138928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✓ Gemini 1.5 Video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431536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✓ Step-Video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4114800"/>
            <a:ext cx="5486400" cy="18288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4114800"/>
            <a:ext cx="91440" cy="18288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429768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5B2EBF"/>
                </a:solidFill>
                <a:latin typeface="微软雅黑"/>
                <a:rFonts eastAsia="微软雅黑" ascii="微软雅黑" hAnsi="微软雅黑"/>
              </a:rPr>
              <a:t>📄 PDF/OCR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484632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✓ PaddleOCR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5138928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✓ Mistral-OCR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5431536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✓ PDFPlumber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5724144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✓ Unstructured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企业级智能体平台 · MaxKB 教学课件  ·  小陶老师  · 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41 / 60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2194560" cy="25603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  <a:rFonts eastAsia="微软雅黑" ascii="微软雅黑" hAnsi="微软雅黑"/>
              </a:rPr>
              <a:t>PART 2 · 实操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5B2EBF"/>
                </a:solidFill>
                <a:latin typeface="微软雅黑"/>
                <a:rFonts eastAsia="微软雅黑" ascii="微软雅黑" hAnsi="微软雅黑"/>
              </a:rPr>
              <a:t>2.20 安全与权限控制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3657600" cy="1371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3657600" cy="1371600"/>
          </a:xfrm>
          <a:prstGeom prst="rect">
            <a:avLst/>
          </a:prstGeom>
          <a:noFill/>
          <a:ln w="254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4884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0AF"/>
                </a:solidFill>
                <a:latin typeface="微软雅黑"/>
                <a:rFonts eastAsia="微软雅黑" ascii="微软雅黑" hAnsi="微软雅黑"/>
              </a:rPr>
              <a:t>👥 用户角色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14600"/>
            <a:ext cx="3291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管理员 / 运维 / 应用开发者 / 用户 / 只读访客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2011680"/>
            <a:ext cx="3657600" cy="1371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2011680"/>
            <a:ext cx="3657600" cy="1371600"/>
          </a:xfrm>
          <a:prstGeom prst="rect">
            <a:avLst/>
          </a:prstGeom>
          <a:noFill/>
          <a:ln w="254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214884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0AF"/>
                </a:solidFill>
                <a:latin typeface="微软雅黑"/>
                <a:rFonts eastAsia="微软雅黑" ascii="微软雅黑" hAnsi="微软雅黑"/>
              </a:rPr>
              <a:t>🛡️ 知识库权限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514600"/>
            <a:ext cx="3291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按用户 / 用户组授权 · 支持读写 / 只读分离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2011680"/>
            <a:ext cx="3657600" cy="1371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2011680"/>
            <a:ext cx="3657600" cy="1371600"/>
          </a:xfrm>
          <a:prstGeom prst="rect">
            <a:avLst/>
          </a:prstGeom>
          <a:noFill/>
          <a:ln w="254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14884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0AF"/>
                </a:solidFill>
                <a:latin typeface="微软雅黑"/>
                <a:rFonts eastAsia="微软雅黑" ascii="微软雅黑" hAnsi="微软雅黑"/>
              </a:rPr>
              <a:t>🔑 应用隔离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514600"/>
            <a:ext cx="3291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不同应用绑定不同知识库和工具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566160"/>
            <a:ext cx="3657600" cy="1371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566160"/>
            <a:ext cx="3657600" cy="1371600"/>
          </a:xfrm>
          <a:prstGeom prst="rect">
            <a:avLst/>
          </a:prstGeom>
          <a:noFill/>
          <a:ln w="254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7033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0AF"/>
                </a:solidFill>
                <a:latin typeface="微软雅黑"/>
                <a:rFonts eastAsia="微软雅黑" ascii="微软雅黑" hAnsi="微软雅黑"/>
              </a:rPr>
              <a:t>📝 操作审计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069080"/>
            <a:ext cx="3291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操作日志 / API 调用日志 / 异常告警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3566160"/>
            <a:ext cx="3657600" cy="1371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97680" y="3566160"/>
            <a:ext cx="3657600" cy="1371600"/>
          </a:xfrm>
          <a:prstGeom prst="rect">
            <a:avLst/>
          </a:prstGeom>
          <a:noFill/>
          <a:ln w="254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0560" y="37033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0AF"/>
                </a:solidFill>
                <a:latin typeface="微软雅黑"/>
                <a:rFonts eastAsia="微软雅黑" ascii="微软雅黑" hAnsi="微软雅黑"/>
              </a:rPr>
              <a:t>🔐 数据加密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4069080"/>
            <a:ext cx="3291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静态 / 传输加密，敏感字段脱敏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3566160"/>
            <a:ext cx="3657600" cy="1371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3566160"/>
            <a:ext cx="3657600" cy="1371600"/>
          </a:xfrm>
          <a:prstGeom prst="rect">
            <a:avLst/>
          </a:prstGeom>
          <a:noFill/>
          <a:ln w="254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37033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0AF"/>
                </a:solidFill>
                <a:latin typeface="微软雅黑"/>
                <a:rFonts eastAsia="微软雅黑" ascii="微软雅黑" hAnsi="微软雅黑"/>
              </a:rPr>
              <a:t>🚨 异常防护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4069080"/>
            <a:ext cx="3291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限流 / 防 SQL 注入 / 防 prompt 注入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企业级智能体平台 · MaxKB 教学课件  ·  小陶老师  · 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42 / 60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2194560" cy="25603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  <a:rFonts eastAsia="微软雅黑" ascii="微软雅黑" hAnsi="微软雅黑"/>
              </a:rPr>
              <a:t>PART 2 · 实操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5B2EBF"/>
                </a:solidFill>
                <a:latin typeface="微软雅黑"/>
                <a:rFonts eastAsia="微软雅黑" ascii="微软雅黑" hAnsi="微软雅黑"/>
              </a:rPr>
              <a:t>2.21 监控与日志体系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5486400" cy="45720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73152" cy="45720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14884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8B5CF6"/>
                </a:solidFill>
                <a:latin typeface="微软雅黑"/>
                <a:rFonts eastAsia="微软雅黑" ascii="微软雅黑" hAnsi="微软雅黑"/>
              </a:rPr>
              <a:t>📊 内置监控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✅ 实时 Dashboard：调用量 / 用户数 / 命中率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85292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✅ 应用热度 Top10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145536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✅ 用户活跃度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438144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✅ Token 消耗趋势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73075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✅ 错误率 / 异常告警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02336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✅ 模型对比报表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011680"/>
            <a:ext cx="5486400" cy="45720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2011680"/>
            <a:ext cx="73152" cy="45720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214884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  <a:latin typeface="微软雅黑"/>
                <a:rFonts eastAsia="微软雅黑" ascii="微软雅黑" hAnsi="微软雅黑"/>
              </a:rPr>
              <a:t>📝 日志体系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56032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✅ 问答日志：每条问答的完整记录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85292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✅ 系统日志：登录 / 配置变更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145536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✅ 错误日志：堆栈 + 上下文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438144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✅ 访问日志：来源 IP / User-Agent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73075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✅ 知识库操作日志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02336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✅ 日志导出（JSON / CSV）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企业级智能体平台 · MaxKB 教学课件  ·  小陶老师  · 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43 / 60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2194560" cy="25603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  <a:rFonts eastAsia="微软雅黑" ascii="微软雅黑" hAnsi="微软雅黑"/>
              </a:rPr>
              <a:t>PART 2 · 实操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5B2EBF"/>
                </a:solidFill>
                <a:latin typeface="微软雅黑"/>
                <a:rFonts eastAsia="微软雅黑" ascii="微软雅黑" hAnsi="微软雅黑"/>
              </a:rPr>
              <a:t>2.22 进阶：多路召回工作流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同时检索多个知识库 + 多个数据源 · 最后重排 · 大幅提升召回率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200400"/>
            <a:ext cx="1828800" cy="12801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3200400"/>
            <a:ext cx="1828800" cy="1280160"/>
          </a:xfrm>
          <a:prstGeom prst="rect">
            <a:avLst/>
          </a:prstGeom>
          <a:noFill/>
          <a:ln w="254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566160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8B5CF6"/>
                </a:solidFill>
                <a:latin typeface="微软雅黑"/>
                <a:rFonts eastAsia="微软雅黑" ascii="微软雅黑" hAnsi="微软雅黑"/>
              </a:rPr>
              <a:t>问题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19" y="3566160"/>
            <a:ext cx="27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8B5CF6"/>
                </a:solidFill>
                <a:latin typeface="微软雅黑"/>
                <a:rFonts eastAsia="微软雅黑" ascii="微软雅黑" hAnsi="微软雅黑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77440" y="3200400"/>
            <a:ext cx="1828800" cy="12801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377440" y="3200400"/>
            <a:ext cx="1828800" cy="1280160"/>
          </a:xfrm>
          <a:prstGeom prst="rect">
            <a:avLst/>
          </a:prstGeom>
          <a:noFill/>
          <a:ln w="254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77440" y="3566160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3B82F6"/>
                </a:solidFill>
                <a:latin typeface="微软雅黑"/>
                <a:rFonts eastAsia="微软雅黑" ascii="微软雅黑" hAnsi="微软雅黑"/>
              </a:rPr>
              <a:t>向量检索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59" y="3566160"/>
            <a:ext cx="27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8B5CF6"/>
                </a:solidFill>
                <a:latin typeface="微软雅黑"/>
                <a:rFonts eastAsia="微软雅黑" ascii="微软雅黑" hAnsi="微软雅黑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3200400"/>
            <a:ext cx="1828800" cy="12801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3200400"/>
            <a:ext cx="1828800" cy="1280160"/>
          </a:xfrm>
          <a:prstGeom prst="rect">
            <a:avLst/>
          </a:prstGeom>
          <a:noFill/>
          <a:ln w="254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3566160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34D399"/>
                </a:solidFill>
                <a:latin typeface="微软雅黑"/>
                <a:rFonts eastAsia="微软雅黑" ascii="微软雅黑" hAnsi="微软雅黑"/>
              </a:rPr>
              <a:t>BM25 检索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199" y="3566160"/>
            <a:ext cx="27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8B5CF6"/>
                </a:solidFill>
                <a:latin typeface="微软雅黑"/>
                <a:rFonts eastAsia="微软雅黑" ascii="微软雅黑" hAnsi="微软雅黑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200400"/>
            <a:ext cx="1828800" cy="12801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200400"/>
            <a:ext cx="1828800" cy="1280160"/>
          </a:xfrm>
          <a:prstGeom prst="rect">
            <a:avLst/>
          </a:prstGeom>
          <a:noFill/>
          <a:ln w="25400">
            <a:solidFill>
              <a:srgbClr val="5B2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3566160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5B2EBF"/>
                </a:solidFill>
                <a:latin typeface="微软雅黑"/>
                <a:rFonts eastAsia="微软雅黑" ascii="微软雅黑" hAnsi="微软雅黑"/>
              </a:rPr>
              <a:t>多路汇总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2439" y="3566160"/>
            <a:ext cx="27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8B5CF6"/>
                </a:solidFill>
                <a:latin typeface="微软雅黑"/>
                <a:rFonts eastAsia="微软雅黑" ascii="微软雅黑" hAnsi="微软雅黑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3200400"/>
            <a:ext cx="1828800" cy="12801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38160" y="3200400"/>
            <a:ext cx="1828800" cy="1280160"/>
          </a:xfrm>
          <a:prstGeom prst="rect">
            <a:avLst/>
          </a:prstGeom>
          <a:noFill/>
          <a:ln w="254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38160" y="3566160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1E40AF"/>
                </a:solidFill>
                <a:latin typeface="微软雅黑"/>
                <a:rFonts eastAsia="微软雅黑" ascii="微软雅黑" hAnsi="微软雅黑"/>
              </a:rPr>
              <a:t>重排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12679" y="3566160"/>
            <a:ext cx="27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8B5CF6"/>
                </a:solidFill>
                <a:latin typeface="微软雅黑"/>
                <a:rFonts eastAsia="微软雅黑" ascii="微软雅黑" hAnsi="微软雅黑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58400" y="3200400"/>
            <a:ext cx="1828800" cy="12801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058400" y="3200400"/>
            <a:ext cx="1828800" cy="1280160"/>
          </a:xfrm>
          <a:prstGeom prst="rect">
            <a:avLst/>
          </a:prstGeom>
          <a:noFill/>
          <a:ln w="254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0" y="3566160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34D399"/>
                </a:solidFill>
                <a:latin typeface="微软雅黑"/>
                <a:rFonts eastAsia="微软雅黑" ascii="微软雅黑" hAnsi="微软雅黑"/>
              </a:rPr>
              <a:t>LLM 生成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029200"/>
            <a:ext cx="11247120" cy="1371600"/>
          </a:xfrm>
          <a:prstGeom prst="rect">
            <a:avLst/>
          </a:prstGeom>
          <a:solidFill>
            <a:srgbClr val="C4B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2120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5B2EBF"/>
                </a:solidFill>
                <a:latin typeface="微软雅黑"/>
                <a:rFonts eastAsia="微软雅黑" ascii="微软雅黑" hAnsi="微软雅黑"/>
              </a:rPr>
              <a:t>💡 多路召回优势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57784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召回率提升 30%+ · 单一召回 80% → 多路召回 95%+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企业级智能体平台 · MaxKB 教学课件  ·  小陶老师  · 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44 / 60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2194560" cy="25603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  <a:rFonts eastAsia="微软雅黑" ascii="微软雅黑" hAnsi="微软雅黑"/>
              </a:rPr>
              <a:t>PART 2 · 实操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5B2EBF"/>
                </a:solidFill>
                <a:latin typeface="微软雅黑"/>
                <a:rFonts eastAsia="微软雅黑" ascii="微软雅黑" hAnsi="微软雅黑"/>
              </a:rPr>
              <a:t>2.23 PART 2 总结 · 实战精华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5486400" cy="22860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73152" cy="22860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14884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8B5CF6"/>
                </a:solidFill>
                <a:latin typeface="微软雅黑"/>
                <a:rFonts eastAsia="微软雅黑" ascii="微软雅黑" hAnsi="微软雅黑"/>
              </a:rPr>
              <a:t>🎯 你已经掌握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· 6 步端到端部署链路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85292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· 工作流节点 6 大类型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145536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· MCP 工具接入方法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438144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· 性能调优 6 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73075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· 多模态能力扩展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011680"/>
            <a:ext cx="5486400" cy="22860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2011680"/>
            <a:ext cx="73152" cy="22860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14884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  <a:latin typeface="微软雅黑"/>
                <a:rFonts eastAsia="微软雅黑" ascii="微软雅黑" hAnsi="微软雅黑"/>
              </a:rPr>
              <a:t>🚀 下一步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56032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· 实验 2：知识库问答系统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85292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· 实验 3：工作流编排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145536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· 期末项目：FDE 实战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572000"/>
            <a:ext cx="11247120" cy="18288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7548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5B2EBF"/>
                </a:solidFill>
                <a:latin typeface="微软雅黑"/>
                <a:rFonts eastAsia="微软雅黑" ascii="微软雅黑" hAnsi="微软雅黑"/>
              </a:rPr>
              <a:t>🧭 FDE 工程师视角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21208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3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· 在企业中：MaxKB 可在 1-2 周内完成从需求到上线的全流程</a:t>
            </a:r>
          </a:p>
          <a:p>
            <a:pPr algn="l">
              <a:lnSpc>
                <a:spcPct val="160000"/>
              </a:lnSpc>
            </a:pPr>
            <a:r>
              <a:rPr sz="13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· 在教学中：学生 1 周可独立完成一个可用项目</a:t>
            </a:r>
          </a:p>
          <a:p>
            <a:pPr algn="l">
              <a:lnSpc>
                <a:spcPct val="160000"/>
              </a:lnSpc>
            </a:pPr>
            <a:r>
              <a:rPr sz="13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· 在科研中：可作为 LLM 实验的载体，复用工作流编排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企业级智能体平台 · MaxKB 教学课件  ·  小陶老师  · 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45 / 60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5B2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0"/>
            <a:ext cx="3657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微软雅黑"/>
                <a:rFonts eastAsia="微软雅黑" ascii="微软雅黑" hAnsi="微软雅黑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47472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C4B5FD"/>
                </a:solidFill>
                <a:latin typeface="微软雅黑"/>
                <a:rFonts eastAsia="微软雅黑" ascii="微软雅黑" hAnsi="微软雅黑"/>
              </a:rPr>
              <a:t>5 大真实案例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0"/>
            <a:ext cx="80768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2286000"/>
            <a:ext cx="7315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5B2EBF"/>
                </a:solidFill>
                <a:latin typeface="微软雅黑"/>
                <a:rFonts eastAsia="微软雅黑" ascii="微软雅黑" hAnsi="微软雅黑"/>
              </a:rPr>
              <a:t>PART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926080"/>
            <a:ext cx="7315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场景落地 · 5 大真实案例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3840480"/>
            <a:ext cx="73152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从企业一线提炼 5 个高价值场景：</a:t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· 高校智能客服</a:t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· 教师备课助手</a:t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· 科研文献精读</a:t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· 企业内部知识库</a:t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· 医院导诊助手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3657600"/>
            <a:ext cx="914400" cy="457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企业级智能体平台 · MaxKB 教学课件  ·  小陶老师  · 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46 / 60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2194560" cy="25603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  <a:rFonts eastAsia="微软雅黑" ascii="微软雅黑" hAnsi="微软雅黑"/>
              </a:rPr>
              <a:t>PART 3 · 场景落地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5B2EBF"/>
                </a:solidFill>
                <a:latin typeface="微软雅黑"/>
                <a:rFonts eastAsia="微软雅黑" ascii="微软雅黑" hAnsi="微软雅黑"/>
              </a:rPr>
              <a:t>3.1 5 大场景业务价值矩阵</a:t>
            </a:r>
          </a:p>
        </p:txBody>
      </p:sp>
      <p:pic>
        <p:nvPicPr>
          <p:cNvPr id="5" name="Picture 4" descr="06_五大场景对比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11247120" cy="60452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126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1">
                <a:solidFill>
                  <a:srgbClr val="8B5CF6"/>
                </a:solidFill>
                <a:latin typeface="微软雅黑"/>
                <a:rFonts eastAsia="微软雅黑" ascii="微软雅黑" hAnsi="微软雅黑"/>
              </a:rPr>
              <a:t>💡 业务价值排序：高校客服 &gt; 企业知识库 &gt; 文献精读 &gt; 教师备课 &gt; 医院导诊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企业级智能体平台 · MaxKB 教学课件  ·  小陶老师  ·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47 / 60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2194560" cy="25603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  <a:rFonts eastAsia="微软雅黑" ascii="微软雅黑" hAnsi="微软雅黑"/>
              </a:rPr>
              <a:t>PART 3 · 场景落地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5B2EBF"/>
                </a:solidFill>
                <a:latin typeface="微软雅黑"/>
                <a:rFonts eastAsia="微软雅黑" ascii="微软雅黑" hAnsi="微软雅黑"/>
              </a:rPr>
              <a:t>3.2 场景 1 · 高校智能客服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广州华商学院招生季案例 · 每天 200+ 家长咨询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743200"/>
            <a:ext cx="5486400" cy="146304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743200"/>
            <a:ext cx="73152" cy="146304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88036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8B5CF6"/>
                </a:solidFill>
                <a:latin typeface="微软雅黑"/>
                <a:rFonts eastAsia="微软雅黑" ascii="微软雅黑" hAnsi="微软雅黑"/>
              </a:rPr>
              <a:t>🎯 痛点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29184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人工客服无法 7×24 在线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58444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回复一致性差 · 同一问题 5 种答案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877056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高峰期排队严重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389120"/>
            <a:ext cx="5486400" cy="146304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4389120"/>
            <a:ext cx="73152" cy="146304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52628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  <a:latin typeface="微软雅黑"/>
                <a:rFonts eastAsia="微软雅黑" ascii="微软雅黑" hAnsi="微软雅黑"/>
              </a:rPr>
              <a:t>💡 MaxKB 方案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93776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上传《2026 招生简章》《专业介绍》等 12 份 PDF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23036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配置 3 个应用：招生咨询 / 宿舍分配 / 奖助学金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743200"/>
            <a:ext cx="5486400" cy="310896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2743200"/>
            <a:ext cx="73152" cy="310896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288036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34D399"/>
                </a:solidFill>
                <a:latin typeface="微软雅黑"/>
                <a:rFonts eastAsia="微软雅黑" ascii="微软雅黑" hAnsi="微软雅黑"/>
              </a:rPr>
              <a:t>📈 效果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29184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✅ FAQ 命中率 92%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58444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✅ 人工客服工作量下降 70%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877056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✅ 家长满意度提升 35%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169664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✅ 实施周期：1 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446227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✅ 投入：3 人日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475488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✅ ROI：1:8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企业级智能体平台 · MaxKB 教学课件  ·  小陶老师  · 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48 / 60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2194560" cy="25603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  <a:rFonts eastAsia="微软雅黑" ascii="微软雅黑" hAnsi="微软雅黑"/>
              </a:rPr>
              <a:t>PART 3 · 场景落地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5B2EBF"/>
                </a:solidFill>
                <a:latin typeface="微软雅黑"/>
                <a:rFonts eastAsia="微软雅黑" ascii="微软雅黑" hAnsi="微软雅黑"/>
              </a:rPr>
              <a:t>3.3 场景 2 · 教师备课助手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SKC4073 数据可视化课程案例 · 小陶老师备课场景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743200"/>
            <a:ext cx="5486400" cy="146304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743200"/>
            <a:ext cx="73152" cy="146304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88036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8B5CF6"/>
                </a:solidFill>
                <a:latin typeface="微软雅黑"/>
                <a:rFonts eastAsia="微软雅黑" ascii="微软雅黑" hAnsi="微软雅黑"/>
              </a:rPr>
              <a:t>🎯 痛点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29184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每年更新教材 · 备课耗时 40h/课程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58444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案例素材散落 · 难以系统化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877056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课件风格难以统一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389120"/>
            <a:ext cx="5486400" cy="146304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4389120"/>
            <a:ext cx="73152" cy="146304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52628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  <a:latin typeface="微软雅黑"/>
                <a:rFonts eastAsia="微软雅黑" ascii="微软雅黑" hAnsi="微软雅黑"/>
              </a:rPr>
              <a:t>💡 MaxKB 方案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93776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上传历年 PPT + 教材 + 教学大纲 + 案例库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23036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配置「教学问题」「代码示例」「考点提示」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743200"/>
            <a:ext cx="5486400" cy="310896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2743200"/>
            <a:ext cx="73152" cy="310896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288036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34D399"/>
                </a:solidFill>
                <a:latin typeface="微软雅黑"/>
                <a:rFonts eastAsia="微软雅黑" ascii="微软雅黑" hAnsi="微软雅黑"/>
              </a:rPr>
              <a:t>📈 效果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29184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✅ 备课效率提升 60%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58444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✅ 课件质量稳定可复用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877056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✅ 助教也能参与备课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169664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✅ 实施周期：2 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446227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✅ 投入：5 人日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475488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✅ ROI：1:6（教师复用）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企业级智能体平台 · MaxKB 教学课件  ·  小陶老师  · 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49 / 60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2194560" cy="25603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  <a:rFonts eastAsia="微软雅黑" ascii="微软雅黑" hAnsi="微软雅黑"/>
              </a:rPr>
              <a:t>PART 3 · 场景落地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5B2EBF"/>
                </a:solidFill>
                <a:latin typeface="微软雅黑"/>
                <a:rFonts eastAsia="微软雅黑" ascii="微软雅黑" hAnsi="微软雅黑"/>
              </a:rPr>
              <a:t>3.4 场景 3 · 科研文献精读助手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YOLO 西红柿检测项目案例 · 一周精读 10 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743200"/>
            <a:ext cx="5486400" cy="164592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743200"/>
            <a:ext cx="73152" cy="16459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88036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8B5CF6"/>
                </a:solidFill>
                <a:latin typeface="微软雅黑"/>
                <a:rFonts eastAsia="微软雅黑" ascii="微软雅黑" hAnsi="微软雅黑"/>
              </a:rPr>
              <a:t>🎯 痛点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29184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精读 1 篇论文约 3 小时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58444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提取「方法」「实验」「限制」耗时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877056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写 survey 时调取文献效率低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572000"/>
            <a:ext cx="5486400" cy="146304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4572000"/>
            <a:ext cx="73152" cy="146304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70916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  <a:latin typeface="微软雅黑"/>
                <a:rFonts eastAsia="微软雅黑" ascii="微软雅黑" hAnsi="微软雅黑"/>
              </a:rPr>
              <a:t>💡 MaxKB 方案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12064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上传论文 PDF + 课题组 survey 模板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41324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配置「方法 / 实验 / 限制」三类提问模板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705856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自动生成结构化笔记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743200"/>
            <a:ext cx="5486400" cy="310896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2743200"/>
            <a:ext cx="73152" cy="310896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288036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34D399"/>
                </a:solidFill>
                <a:latin typeface="微软雅黑"/>
                <a:rFonts eastAsia="微软雅黑" ascii="微软雅黑" hAnsi="微软雅黑"/>
              </a:rPr>
              <a:t>📈 效果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29184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✅ 单篇精读 3h → 40min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58444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✅ 信息提取准确率 95%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3877056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✅ survey 撰写效率 +200%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4169664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✅ 实施周期：3 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446227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✅ 投入：2 人日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475488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✅ ROI：1:15（时间成本最高）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企业级智能体平台 · MaxKB 教学课件  ·  小陶老师  · 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50 / 60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2194560" cy="25603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  <a:rFonts eastAsia="微软雅黑" ascii="微软雅黑" hAnsi="微软雅黑"/>
              </a:rPr>
              <a:t>PART 3 · 场景落地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5B2EBF"/>
                </a:solidFill>
                <a:latin typeface="微软雅黑"/>
                <a:rFonts eastAsia="微软雅黑" ascii="微软雅黑" hAnsi="微软雅黑"/>
              </a:rPr>
              <a:t>3.5 场景 4 · 企业内部知识库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某制造业企业案例 · 500 名员工 · 覆盖 5 类问题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743200"/>
            <a:ext cx="5486400" cy="146304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743200"/>
            <a:ext cx="73152" cy="146304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88036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8B5CF6"/>
                </a:solidFill>
                <a:latin typeface="微软雅黑"/>
                <a:rFonts eastAsia="微软雅黑" ascii="微软雅黑" hAnsi="微软雅黑"/>
              </a:rPr>
              <a:t>🎯 痛点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29184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员工跑 5 个部门签字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58444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老员工离职后流程断裂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877056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HR 工单处理完无沉淀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389120"/>
            <a:ext cx="5486400" cy="146304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4389120"/>
            <a:ext cx="73152" cy="146304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52628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  <a:latin typeface="微软雅黑"/>
                <a:rFonts eastAsia="微软雅黑" ascii="微软雅黑" hAnsi="微软雅黑"/>
              </a:rPr>
              <a:t>💡 MaxKB 方案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93776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分类上传《员工手册》《报销流程》《IT 申请单》等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23036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对接 MCP：HR 系统 / 工单系统 / 财务系统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743200"/>
            <a:ext cx="5486400" cy="310896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2743200"/>
            <a:ext cx="73152" cy="310896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288036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34D399"/>
                </a:solidFill>
                <a:latin typeface="微软雅黑"/>
                <a:rFonts eastAsia="微软雅黑" ascii="微软雅黑" hAnsi="微软雅黑"/>
              </a:rPr>
              <a:t>📈 效果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29184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✅ 自助查询覆盖率 85%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58444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✅ HR 工单量下降 60%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877056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✅ 平均入职办理时间 -50%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169664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✅ 实施周期：2 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446227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✅ 投入：10 人日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475488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✅ ROI：1:12（500 人复用）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企业级智能体平台 · MaxKB 教学课件  ·  小陶老师  · 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51 / 60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2194560" cy="25603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  <a:rFonts eastAsia="微软雅黑" ascii="微软雅黑" hAnsi="微软雅黑"/>
              </a:rPr>
              <a:t>PART 3 · 场景落地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5B2EBF"/>
                </a:solidFill>
                <a:latin typeface="微软雅黑"/>
                <a:rFonts eastAsia="微软雅黑" ascii="微软雅黑" hAnsi="微软雅黑"/>
              </a:rPr>
              <a:t>3.6 场景 5 · 医院导诊助手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三甲医院案例 · 日均 8000 人次门诊 · 60% 咨询属「挂错科」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743200"/>
            <a:ext cx="5486400" cy="146304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743200"/>
            <a:ext cx="73152" cy="146304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88036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8B5CF6"/>
                </a:solidFill>
                <a:latin typeface="微软雅黑"/>
                <a:rFonts eastAsia="微软雅黑" ascii="微软雅黑" hAnsi="微软雅黑"/>
              </a:rPr>
              <a:t>🎯 痛点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29184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导诊台排队严重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58444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前台工作量大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877056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患者挂错科再来回换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389120"/>
            <a:ext cx="5486400" cy="146304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4389120"/>
            <a:ext cx="73152" cy="146304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52628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  <a:latin typeface="微软雅黑"/>
                <a:rFonts eastAsia="微软雅黑" ascii="微软雅黑" hAnsi="微软雅黑"/>
              </a:rPr>
              <a:t>💡 MaxKB 方案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93776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上传《科室介绍》《症状-科室对照表》《专家出诊表》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23036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集成微信公众号 / 院内 App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743200"/>
            <a:ext cx="5486400" cy="310896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2743200"/>
            <a:ext cx="73152" cy="310896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288036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34D399"/>
                </a:solidFill>
                <a:latin typeface="微软雅黑"/>
                <a:rFonts eastAsia="微软雅黑" ascii="微软雅黑" hAnsi="微软雅黑"/>
              </a:rPr>
              <a:t>📈 效果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29184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✅ 导诊命中率 88%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58444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✅ 患者满意度 +30%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877056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✅ 前台工作量 -45%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169664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✅ 实施周期：3 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446227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✅ 投入：15 人日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475488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✅ ROI：1:10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企业级智能体平台 · MaxKB 教学课件  ·  小陶老师  · 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52 / 60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2194560" cy="25603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  <a:rFonts eastAsia="微软雅黑" ascii="微软雅黑" hAnsi="微软雅黑"/>
              </a:rPr>
              <a:t>PART 3 · 场景落地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5B2EBF"/>
                </a:solidFill>
                <a:latin typeface="微软雅黑"/>
                <a:rFonts eastAsia="微软雅黑" ascii="微软雅黑" hAnsi="微软雅黑"/>
              </a:rPr>
              <a:t>3.7 场景选择决策树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老师同学们：用下面 3 个问题，1 分钟判断适合哪个场景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743200"/>
            <a:ext cx="3657600" cy="32004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743200"/>
            <a:ext cx="91440" cy="32004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92608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8B5CF6"/>
                </a:solidFill>
                <a:latin typeface="微软雅黑"/>
                <a:rFonts eastAsia="微软雅黑" ascii="微软雅黑" hAnsi="微软雅黑"/>
              </a:rPr>
              <a:t>Q1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52044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5B2EBF"/>
                </a:solidFill>
                <a:latin typeface="微软雅黑"/>
                <a:rFonts eastAsia="微软雅黑" ascii="微软雅黑" hAnsi="微软雅黑"/>
              </a:rPr>
              <a:t>您的用户总量级？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206240"/>
            <a:ext cx="32004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A. &lt; 100 人：内部知识库</a:t>
            </a:r>
          </a:p>
          <a:p>
            <a:pPr algn="l">
              <a:lnSpc>
                <a:spcPct val="160000"/>
              </a:lnSpc>
            </a:pPr>
            <a:r>
              <a:rPr sz="12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B. 100-10000 人：客服 / 导诊</a:t>
            </a:r>
          </a:p>
          <a:p>
            <a:pPr algn="l">
              <a:lnSpc>
                <a:spcPct val="160000"/>
              </a:lnSpc>
            </a:pPr>
            <a:r>
              <a:rPr sz="12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C. &gt; 10000 人：电商 / 大型客服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2743200"/>
            <a:ext cx="3657600" cy="32004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2743200"/>
            <a:ext cx="91440" cy="32004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92608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8B5CF6"/>
                </a:solidFill>
                <a:latin typeface="微软雅黑"/>
                <a:rFonts eastAsia="微软雅黑" ascii="微软雅黑" hAnsi="微软雅黑"/>
              </a:rPr>
              <a:t>Q2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52044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5B2EBF"/>
                </a:solidFill>
                <a:latin typeface="微软雅黑"/>
                <a:rFonts eastAsia="微软雅黑" ascii="微软雅黑" hAnsi="微软雅黑"/>
              </a:rPr>
              <a:t>答案是否随时间变化？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4206240"/>
            <a:ext cx="32004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A. 变化大：客服 / 备课</a:t>
            </a:r>
          </a:p>
          <a:p>
            <a:pPr algn="l">
              <a:lnSpc>
                <a:spcPct val="160000"/>
              </a:lnSpc>
            </a:pPr>
            <a:r>
              <a:rPr sz="12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B. 较稳定：文献 / 制度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2743200"/>
            <a:ext cx="3657600" cy="32004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2743200"/>
            <a:ext cx="91440" cy="32004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292608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8B5CF6"/>
                </a:solidFill>
                <a:latin typeface="微软雅黑"/>
                <a:rFonts eastAsia="微软雅黑" ascii="微软雅黑" hAnsi="微软雅黑"/>
              </a:rPr>
              <a:t>Q3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52044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5B2EBF"/>
                </a:solidFill>
                <a:latin typeface="微软雅黑"/>
                <a:rFonts eastAsia="微软雅黑" ascii="微软雅黑" hAnsi="微软雅黑"/>
              </a:rPr>
              <a:t>是否能提供 10+ 文档？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4206240"/>
            <a:ext cx="32004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A. 能：进入实操阶段</a:t>
            </a:r>
          </a:p>
          <a:p>
            <a:pPr algn="l">
              <a:lnSpc>
                <a:spcPct val="160000"/>
              </a:lnSpc>
            </a:pPr>
            <a:r>
              <a:rPr sz="12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B. 难：先做数据治理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企业级智能体平台 · MaxKB 教学课件  ·  小陶老师  · 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53 / 60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2194560" cy="25603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  <a:rFonts eastAsia="微软雅黑" ascii="微软雅黑" hAnsi="微软雅黑"/>
              </a:rPr>
              <a:t>PART 3 · 场景落地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5B2EBF"/>
                </a:solidFill>
                <a:latin typeface="微软雅黑"/>
                <a:rFonts eastAsia="微软雅黑" ascii="微软雅黑" hAnsi="微软雅黑"/>
              </a:rPr>
              <a:t>3.8 FDE 落地方程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FDE 工程师通用公式：清晰的问题 + 合适的工具 + 数据 = 价值产出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5B2EBF"/>
                </a:solidFill>
                <a:latin typeface="微软雅黑"/>
                <a:rFonts eastAsia="微软雅黑" ascii="微软雅黑" hAnsi="微软雅黑"/>
              </a:rPr>
              <a:t>业务问题 × MaxKB 能力 × 数据治理 = 交付价值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2743200" cy="18288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4572000"/>
            <a:ext cx="2743200" cy="4572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  <a:rFonts eastAsia="微软雅黑" ascii="微软雅黑" hAnsi="微软雅黑"/>
              </a:rPr>
              <a:t>🎯 业务问题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212080"/>
            <a:ext cx="23774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明确痛点 + 目标用户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4572000"/>
            <a:ext cx="2743200" cy="18288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83280" y="4572000"/>
            <a:ext cx="2743200" cy="4572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466344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  <a:rFonts eastAsia="微软雅黑" ascii="微软雅黑" hAnsi="微软雅黑"/>
              </a:rPr>
              <a:t>⚙️ MaxKB 能力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5212080"/>
            <a:ext cx="23774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RAG + Workflow + MCP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4572000"/>
            <a:ext cx="2743200" cy="18288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4572000"/>
            <a:ext cx="2743200" cy="457200"/>
          </a:xfrm>
          <a:prstGeom prst="rect">
            <a:avLst/>
          </a:prstGeom>
          <a:solidFill>
            <a:srgbClr val="5B2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466344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  <a:rFonts eastAsia="微软雅黑" ascii="微软雅黑" hAnsi="微软雅黑"/>
              </a:rPr>
              <a:t>📚 数据治理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5212080"/>
            <a:ext cx="23774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文档准备 + 拆分 + 向量化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40" y="4572000"/>
            <a:ext cx="2743200" cy="18288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235440" y="4572000"/>
            <a:ext cx="2743200" cy="4572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466344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  <a:rFonts eastAsia="微软雅黑" ascii="微软雅黑" hAnsi="微软雅黑"/>
              </a:rPr>
              <a:t>💎 交付价值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5212080"/>
            <a:ext cx="23774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效率提升 + ROI + 可复用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企业级智能体平台 · MaxKB 教学课件  ·  小陶老师  · 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54 / 60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2194560" cy="25603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  <a:rFonts eastAsia="微软雅黑" ascii="微软雅黑" hAnsi="微软雅黑"/>
              </a:rPr>
              <a:t>PART 3 · 场景落地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5B2EBF"/>
                </a:solidFill>
                <a:latin typeface="微软雅黑"/>
                <a:rFonts eastAsia="微软雅黑" ascii="微软雅黑" hAnsi="微软雅黑"/>
              </a:rPr>
              <a:t>3.9 现场成果：3 大真实演示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286000"/>
            <a:ext cx="3657600" cy="36576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3657600" cy="457200"/>
          </a:xfrm>
          <a:prstGeom prst="rect">
            <a:avLst/>
          </a:prstGeom>
          <a:solidFill>
            <a:srgbClr val="5B2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微软雅黑"/>
                <a:rFonts eastAsia="微软雅黑" ascii="微软雅黑" hAnsi="微软雅黑"/>
              </a:rPr>
              <a:t>🏫 招生客服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17520"/>
            <a:ext cx="310896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实时模拟家长咨询</a:t>
            </a:r>
          </a:p>
          <a:p>
            <a:pPr algn="l">
              <a:lnSpc>
                <a:spcPct val="160000"/>
              </a:lnSpc>
            </a:pPr>
            <a:r>
              <a:rPr sz="12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招生政策 / 专业介绍 / 宿舍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3108960" cy="548640"/>
          </a:xfrm>
          <a:prstGeom prst="rect">
            <a:avLst/>
          </a:prstGeom>
          <a:solidFill>
            <a:srgbClr val="C4B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2064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5B2EBF"/>
                </a:solidFill>
                <a:latin typeface="微软雅黑"/>
                <a:rFonts eastAsia="微软雅黑" ascii="微软雅黑" hAnsi="微软雅黑"/>
              </a:rPr>
              <a:t>📊 8 题命中 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2286000"/>
            <a:ext cx="3657600" cy="36576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2286000"/>
            <a:ext cx="3657600" cy="457200"/>
          </a:xfrm>
          <a:prstGeom prst="rect">
            <a:avLst/>
          </a:prstGeom>
          <a:solidFill>
            <a:srgbClr val="5B2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23774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微软雅黑"/>
                <a:rFonts eastAsia="微软雅黑" ascii="微软雅黑" hAnsi="微软雅黑"/>
              </a:rPr>
              <a:t>📚 备课助手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017520"/>
            <a:ext cx="310896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上传 SKC4073 教材</a:t>
            </a:r>
          </a:p>
          <a:p>
            <a:pPr algn="l">
              <a:lnSpc>
                <a:spcPct val="160000"/>
              </a:lnSpc>
            </a:pPr>
            <a:r>
              <a:rPr sz="12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提问「PCA 算法核心思想」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5029200"/>
            <a:ext cx="3108960" cy="548640"/>
          </a:xfrm>
          <a:prstGeom prst="rect">
            <a:avLst/>
          </a:prstGeom>
          <a:solidFill>
            <a:srgbClr val="C4B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0" y="512064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5B2EBF"/>
                </a:solidFill>
                <a:latin typeface="微软雅黑"/>
                <a:rFonts eastAsia="微软雅黑" ascii="微软雅黑" hAnsi="微软雅黑"/>
              </a:rPr>
              <a:t>📊 引用教材 8 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2286000"/>
            <a:ext cx="3657600" cy="36576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2286000"/>
            <a:ext cx="3657600" cy="457200"/>
          </a:xfrm>
          <a:prstGeom prst="rect">
            <a:avLst/>
          </a:prstGeom>
          <a:solidFill>
            <a:srgbClr val="5B2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0" y="23774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微软雅黑"/>
                <a:rFonts eastAsia="微软雅黑" ascii="微软雅黑" hAnsi="微软雅黑"/>
              </a:rPr>
              <a:t>📄 论文精读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017520"/>
            <a:ext cx="310896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上传 YOLO v8 论文</a:t>
            </a:r>
          </a:p>
          <a:p>
            <a:pPr algn="l">
              <a:lnSpc>
                <a:spcPct val="160000"/>
              </a:lnSpc>
            </a:pPr>
            <a:r>
              <a:rPr sz="12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提取「4 大改进点」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12480" y="5029200"/>
            <a:ext cx="3108960" cy="548640"/>
          </a:xfrm>
          <a:prstGeom prst="rect">
            <a:avLst/>
          </a:prstGeom>
          <a:solidFill>
            <a:srgbClr val="C4B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0" y="512064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5B2EBF"/>
                </a:solidFill>
                <a:latin typeface="微软雅黑"/>
                <a:rFonts eastAsia="微软雅黑" ascii="微软雅黑" hAnsi="微软雅黑"/>
              </a:rPr>
              <a:t>📊 结构化输出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企业级智能体平台 · MaxKB 教学课件  ·  小陶老师  · 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55 / 60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2194560" cy="25603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  <a:rFonts eastAsia="微软雅黑" ascii="微软雅黑" hAnsi="微软雅黑"/>
              </a:rPr>
              <a:t>PART 3 · 场景落地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5B2EBF"/>
                </a:solidFill>
                <a:latin typeface="微软雅黑"/>
                <a:rFonts eastAsia="微软雅黑" ascii="微软雅黑" hAnsi="微软雅黑"/>
              </a:rPr>
              <a:t>3.10 PART 3 总结 · 场景迁移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5486400" cy="32004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73152" cy="32004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14884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8B5CF6"/>
                </a:solidFill>
                <a:latin typeface="微软雅黑"/>
                <a:rFonts eastAsia="微软雅黑" ascii="微软雅黑" hAnsi="微软雅黑"/>
              </a:rPr>
              <a:t>🎯 场景迁移规律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1. 共性：所有场景都「文档为中心」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85292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2. 差异：用户量 × 答案变化频率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145536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3. 工作流：客服型多用分类 · 文献多用 RAG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438144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4. 数据准备：先解问题再集数据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73075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5. 评估：用命中率和满意度双指标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011680"/>
            <a:ext cx="5486400" cy="32004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2011680"/>
            <a:ext cx="73152" cy="32004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14884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  <a:latin typeface="微软雅黑"/>
                <a:rFonts eastAsia="微软雅黑" ascii="微软雅黑" hAnsi="微软雅黑"/>
              </a:rPr>
              <a:t>⚡ 教师视角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56032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· 5 大场景就是 5 个教学案例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85292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· 每个案例对应一份教学讲义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145536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· 学生可任选 1 个场景做期末项目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438144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· 团队 3-5 人协作交付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486400"/>
            <a:ext cx="11247120" cy="457200"/>
          </a:xfrm>
          <a:prstGeom prst="rect">
            <a:avLst/>
          </a:prstGeom>
          <a:solidFill>
            <a:srgbClr val="C4B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5778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1">
                <a:solidFill>
                  <a:srgbClr val="5B2EBF"/>
                </a:solidFill>
                <a:latin typeface="微软雅黑"/>
                <a:rFonts eastAsia="微软雅黑" ascii="微软雅黑" hAnsi="微软雅黑"/>
              </a:rPr>
              <a:t>⚡ 同样的 MaxKB 在 5 个场景里都跑通了，这是「一套工具 N 种业务」的复利价值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企业级智能体平台 · MaxKB 教学课件  ·  小陶老师  · 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56 / 60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5B2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0"/>
            <a:ext cx="3657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微软雅黑"/>
                <a:rFonts eastAsia="微软雅黑" ascii="微软雅黑" hAnsi="微软雅黑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47472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C4B5FD"/>
                </a:solidFill>
                <a:latin typeface="微软雅黑"/>
                <a:rFonts eastAsia="微软雅黑" ascii="微软雅黑" hAnsi="微软雅黑"/>
              </a:rPr>
              <a:t>实战与展望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0"/>
            <a:ext cx="80768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2286000"/>
            <a:ext cx="7315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5B2EBF"/>
                </a:solidFill>
                <a:latin typeface="微软雅黑"/>
                <a:rFonts eastAsia="微软雅黑" ascii="微软雅黑" hAnsi="微软雅黑"/>
              </a:rPr>
              <a:t>PART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926080"/>
            <a:ext cx="7315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收尾 · 实战与展望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3840480"/>
            <a:ext cx="73152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本部分总结与展望：</a:t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· 实验回顾与作业点评</a:t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· 实战营 / 进阶课预告</a:t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· 系列课下周内容预告</a:t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· 致谢 · 资源 · 联系方式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3657600"/>
            <a:ext cx="914400" cy="457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企业级智能体平台 · MaxKB 教学课件  ·  小陶老师  · 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57 / 60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2194560" cy="25603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  <a:rFonts eastAsia="微软雅黑" ascii="微软雅黑" hAnsi="微软雅黑"/>
              </a:rPr>
              <a:t>PART 4 · 收尾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5B2EBF"/>
                </a:solidFill>
                <a:latin typeface="微软雅黑"/>
                <a:rFonts eastAsia="微软雅黑" ascii="微软雅黑" hAnsi="微软雅黑"/>
              </a:rPr>
              <a:t>4.1 实验回顾与作业点评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5486400" cy="22860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73152" cy="22860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14884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8B5CF6"/>
                </a:solidFill>
                <a:latin typeface="微软雅黑"/>
                <a:rFonts eastAsia="微软雅黑" ascii="微软雅黑" hAnsi="微软雅黑"/>
              </a:rPr>
              <a:t>📝 3 个实验回顾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实验 1：Hello MaxKB（30 分钟完成）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85292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实验 2：知识库问答系统（2 小时）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145536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实验 3：工作流编排（3 小时）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438144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提交：截图 + JSON + 简要说明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389120"/>
            <a:ext cx="5486400" cy="22860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4389120"/>
            <a:ext cx="73152" cy="22860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52628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  <a:latin typeface="微软雅黑"/>
                <a:rFonts eastAsia="微软雅黑" ascii="微软雅黑" hAnsi="微软雅黑"/>
              </a:rPr>
              <a:t>📊 评分标准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93776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完成度 40% · 完成所有要求步骤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23036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调试质量 30% · 含报错排查记录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522976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文档规范 30% · Markdown + 截图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011680"/>
            <a:ext cx="5486400" cy="45720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2011680"/>
            <a:ext cx="73152" cy="45720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214884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34D399"/>
                </a:solidFill>
                <a:latin typeface="微软雅黑"/>
                <a:rFonts eastAsia="微软雅黑" ascii="微软雅黑" hAnsi="微软雅黑"/>
              </a:rPr>
              <a:t>🚀 实战营预告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56032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📅 开课时间：2026 年 8 月 1 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85292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📅 课时：10 天×6 学时 = 60 学时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3145536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🎯 目标：完成真实企业项目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3438144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👥 招生：20 人，小班教学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73075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💰 学费：2999 元（学生 5 折）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402336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🎁 早鸟优惠 7 月 31 日截止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431596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📧 报名：扫码加小陶老师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企业级智能体平台 · MaxKB 教学课件  ·  小陶老师  · 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58 / 60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2194560" cy="25603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  <a:rFonts eastAsia="微软雅黑" ascii="微软雅黑" hAnsi="微软雅黑"/>
              </a:rPr>
              <a:t>PART 4 · 收尾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5B2EBF"/>
                </a:solidFill>
                <a:latin typeface="微软雅黑"/>
                <a:rFonts eastAsia="微软雅黑" ascii="微软雅黑" hAnsi="微软雅黑"/>
              </a:rPr>
              <a:t>4.2 系列课下周预告 + 致谢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5486400" cy="2743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73152" cy="27432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14884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8B5CF6"/>
                </a:solidFill>
                <a:latin typeface="微软雅黑"/>
                <a:rFonts eastAsia="微软雅黑" ascii="微软雅黑" hAnsi="微软雅黑"/>
              </a:rPr>
              <a:t>📅 下周系列课预告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第 1 期：DeepSeek 实战技巧（7/30）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85292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第 2 期：LangChain 进阶（8/02）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145536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第 3 期：RAG 评测方法论（8/06）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438144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第 4 期：MCP 工具开发（8/09）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73075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第 5 期：多模态应用（8/13）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011680"/>
            <a:ext cx="5486400" cy="2743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2011680"/>
            <a:ext cx="73152" cy="27432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14884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  <a:latin typeface="微软雅黑"/>
                <a:rFonts eastAsia="微软雅黑" ascii="微软雅黑" hAnsi="微软雅黑"/>
              </a:rPr>
              <a:t>🙏 致谢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56032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感谢 1Panel-dev 开源团队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85292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感谢 MaxKB 社区贡献者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145536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感谢 FDE 培训的师生参与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438144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感谢广州华商学院支持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73075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• 感谢 AI 小 Q 高效辅助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029200"/>
            <a:ext cx="11247120" cy="1371600"/>
          </a:xfrm>
          <a:prstGeom prst="rect">
            <a:avLst/>
          </a:prstGeom>
          <a:solidFill>
            <a:srgbClr val="C4B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2120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5B2EBF"/>
                </a:solidFill>
                <a:latin typeface="微软雅黑"/>
                <a:rFonts eastAsia="微软雅黑" ascii="微软雅黑" hAnsi="微软雅黑"/>
              </a:rPr>
              <a:t>💡 后续支持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57784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所有学员加入「MaxKB 实战营」微信群 · 7 天内答疑 · 每周 1 次直播答疑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企业级智能体平台 · MaxKB 教学课件  ·  小陶老师  · 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微软雅黑"/>
                <a:rFonts eastAsia="微软雅黑" ascii="微软雅黑" hAnsi="微软雅黑"/>
              </a:rPr>
              <a:t>59 / 60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B2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0" y="0"/>
            <a:ext cx="4876495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640080"/>
            <a:ext cx="1463040" cy="146304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424160" y="5394960"/>
            <a:ext cx="1097280" cy="109728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微软雅黑"/>
                <a:rFonts eastAsia="微软雅黑" ascii="微软雅黑" hAnsi="微软雅黑"/>
              </a:rPr>
              <a:t>🎉 感谢观看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C4B5FD"/>
                </a:solidFill>
                <a:latin typeface="微软雅黑"/>
                <a:rFonts eastAsia="微软雅黑" ascii="微软雅黑" hAnsi="微软雅黑"/>
              </a:rPr>
              <a:t>MaxKB 教学实战课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4114800"/>
            <a:ext cx="3657600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0" y="429768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5B2EBF"/>
                </a:solidFill>
                <a:latin typeface="微软雅黑"/>
                <a:rFonts eastAsia="微软雅黑" ascii="微软雅黑" hAnsi="微软雅黑"/>
              </a:rPr>
              <a:t>扫码加微信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484632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374151"/>
                </a:solidFill>
                <a:latin typeface="微软雅黑"/>
                <a:rFonts eastAsia="微软雅黑" ascii="微软雅黑" hAnsi="微软雅黑"/>
              </a:rPr>
              <a:t>领取 PPT · 源码 · 实验手册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539496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8B5CF6"/>
                </a:solidFill>
                <a:latin typeface="微软雅黑"/>
                <a:rFonts eastAsia="微软雅黑" ascii="微软雅黑" hAnsi="微软雅黑"/>
              </a:rPr>
              <a:t>加入「MaxKB 实战营」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64008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C4B5FD"/>
                </a:solidFill>
                <a:latin typeface="微软雅黑"/>
                <a:rFonts eastAsia="微软雅黑" ascii="微软雅黑" hAnsi="微软雅黑"/>
              </a:rPr>
              <a:t>小陶老师 · 广州华商学院 · 2026 年暑期 FDE 培训 · AI 辅助设计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